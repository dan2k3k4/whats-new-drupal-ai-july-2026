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Hi, I'm Dan, from amazee.io.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a quick presentation on the last six months of Drupal AI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From January to July, with four releases.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I'll tell you what was built and why it matters, and then I'll try to demo it on a real site.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presentation and the local demo site was mostly built with AI.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Drupal AI in one breath: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It's the AI foundation </a:t>
            </a:r>
            <a:r>
              <a:rPr b="1" lang="en-US"/>
              <a:t>inside</a:t>
            </a:r>
            <a:r>
              <a:rPr lang="en-US"/>
              <a:t> Drupal.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Models, automation, content workflows.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Any provider, open source, and your data stays under your control.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1.3 in March — biggest release ever.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1.4 in May — the enterprise release.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2.0 is in flight right now.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Basically a new release every two months.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ecosystem and the Drupal AI initiative are very active.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Here's the one idea behind everything today.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Most organisations bolt AI on: a separate tool, data leaving the org, nobody can see what it's doing.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Drupal's bet is the opposite - AI </a:t>
            </a:r>
            <a:r>
              <a:rPr b="1" lang="en-US"/>
              <a:t>inside</a:t>
            </a:r>
            <a:r>
              <a:rPr lang="en-US"/>
              <a:t> the platform.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Governed by 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 the editor's workflows.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Monitored in production.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With Human in the loop, by design.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And it's not experimental.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Over 17 thousand sites in production.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Over 48 model providers.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Over 300 contrib modules.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March 2026.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Framed by the Drupal AI team as the largest feature update since initial release.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Organisations asked for three things: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Make it safe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Make it useful for editors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Make it visible in production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1.3 delivered on all three.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Safety first — we have AI Guardrails.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Configurable checks that run before a request leaves your site, and after the answer comes back.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Block it, filter it, enforce policy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 code needed, and it applies to every AI operation on the site.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Trust, built into the platform.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For the business: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compliance gets one oversight point.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Policies enforce themselves — not left to whoever's editing.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And you get a real answer for clients who are nervous about AI.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Making it useful for editors: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one-click AI, right in the form they already use.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Text to image.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FAQ builder.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CSV straight to a chart.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Audio summaries.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Over a hundred actions, every one customisable.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 new tools to learn.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chatbot is context-aware — it knows what page you're 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"Make this title more engaging" — it knows which title.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Small feature, huge difference in practice.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For developers: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reusable AI form elements,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prompts stored as reviewable config,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new operations like rerank and summarise.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Less boilerplate.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Open Telemetry, built in.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AI interaction traced end to end, straight into Datadog, Grafana, Sentry - whatever you already run.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Token spend tracked.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Agent decisions auditable.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Try asking a SaaS AI vendor for that.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 May / June 2026, 1.4 was released.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With the goal to build for the future.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drush generate, for AI.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Scaffold a provider, an automator, a guardrail, field widget actions,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best-practice code in minutes, following the conventions.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Chat got decoupled from its processors.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First payoff: talk to your Drupal agents straight from Slack.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Meet people where they already are.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Automators meet bulk operations.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Alt-text across an entire media library.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Auto-tagging thousands of items.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translation.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used to be a migration backlog is now a one-click job.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Enterprise reliability: failover groundwork.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Provider has an outage, traffic reroutes to a backup.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And guardrails grew up: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global, site-wide enforcement.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Applied to streaming responses as they flow.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Input limits, so an oversized prompt doesn't cost you money.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Production-hardened.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9" name="Google Shape;39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OK, let’s try a few demos.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site is a</a:t>
            </a:r>
            <a:r>
              <a:rPr lang="en-US"/>
              <a:t> fictional lakeside tech camp,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40 sessions,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speakers,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with latest AI modules using the amazee.ai provider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drush php:script scripts/04-rewrite.php -- 27 --force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Context Control Centre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problem it solves: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 AI feature needs to know your brand voice, your audience, your rules — and you do *not* want to paste that into fifty prompts.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[Open /admin/ai/context/items — open "Driftwood brand voice"]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Here's our brand voice — written once, in plain markdown. Warm, honest, no buzzwords.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And here — [open "Audience: Technical expert"] — an audience persona: a senior engineer who hates discovering a talk was beneath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[Open /admin/ai/context/settings/agents]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AI agent subscribes to context 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Our rewrite agent always gets the expert persona.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config screen — governance for every AI call.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Now watch it work. [Show the pre-made "before" — generic output — screenshot or tab]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a session description rewritten *without* context. Competent. Generic. Could be any conference.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[Run: drush php:script scripts/04-rewrite.php -- 27 --force — narrate while it runs ~40s]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Same prompt, same model — but now the Context Control Centre injects the voice and the persona... [refresh /node/27, open both toggles]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— camp voice, calibrated to the reader, and honest: "skip it unless you're mentoring someone." Nobody wrote that rule into this prompt. It came from the context centre.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[Optional receipt: /admin/ai/context/usage] And here's the audit trail — exactly which context steered which call.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Canvas - Drupal's new page builder - with its AI assistant.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[Open /canvas/editor on a fresh page, open AI panel, paste the brief from README-DEMO.md, hit go — THEN keep talking over the ~2 min build]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I've just asked it, in plain language, for a full landing page: hero, sections, cards, photos, a call to action.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While it thinks, the important part: it can only use *approved* components.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photos and icons are locked-down choices — the AI picks from them, it can't invent assets.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Governance again.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[While it builds, show /welcome, /workshops, /evenings, /team]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four pages?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built this way, from different one-paragraph briefs.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Different photos, different structure, same components — and notice the writing: "campers", plain-spoken, honest.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That's the *same* brand-voice context from demo one, steering a completely different subsystem.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Defined once.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[Return to editor — reveal the generated page, scroll it]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And there it is: hero, waterline, cards with the right icons, closing call to action — in the camp's voice.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[Coda — this replaces the deleted third demo, ~60s]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more thing while we're here.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[Open /search, run: "talks about deploying safely without downtime"]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search shares no keywords with the results — it's semantic, over a vector database.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[Ask the block: "Are there any talks about making deploys less scary?"]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And the same index powers this — a grounded answer, real sessions, real rooms and times, nothing invented.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Same platform, same governance, three features.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Last one — don't miss this.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If you use Claude Code, Cursor, or any coding agent: install and use </a:t>
            </a:r>
            <a:r>
              <a:rPr lang="en-US"/>
              <a:t>Drupal's</a:t>
            </a:r>
            <a:r>
              <a:rPr lang="en-US"/>
              <a:t>’ AI Best Practices.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It's a canonical Drupal guidance your agent reads — conventions, not guesses.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Our demo site has it wired in; every AI-assisted line of code gets better.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Also on this slide: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Tool API — required in 2.x, write a tool once, use it from CLI, MCP and agents.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Install the best practices today; adopt Tool API as you build.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7" name="Google Shape;47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Provider-agnostic in practice: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over 48 providers,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swap without rewriting integration code.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Everything you just watched ran on amazee.ai — chat, embeddings and the vector database, one provider.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8" name="Google Shape;49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Modules worth adopting.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Two of these you just saw live: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AI Dashboard is the admin hub on our demo site,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and AI Search Block is that grounded search on the search page.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Agents move into AI core for 2.x.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5" name="Google Shape;52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Some real world case studies.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World Cancer Day: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AI-moderated user stories, live, human-approved.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Southwark Council: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 thousand print PDFs turned into accessible web content — 240 times faster.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DB Schenker: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email triage collapsed from weeks to minutes.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Rail support: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eighty percent faster, customer satisfaction went up by 25 percent.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 one of these keeps a human in the loop.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Where it's heading: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Agents move into core.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Tool API becomes the standard.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chatbot talks to agents directly.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2.0 is close.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2" name="Google Shape;58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agencies can tell clients today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</a:t>
            </a:r>
            <a:r>
              <a:rPr lang="en-US"/>
              <a:t>overnance,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Productivity,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Scale,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Resilience,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Cost control — and no lock-in.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Open source, over 48 providers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</a:t>
            </a:r>
            <a:r>
              <a:rPr lang="en-US"/>
              <a:t>tart small: AI core plus one provider.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AI Dashboard 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Try one field action.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Turn on guardrails.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That's an afternoon — and it's already useful.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2" name="Google Shape;63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Staying current: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drupal.org project page,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Drupal AI TV,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AI Learners Club,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and the #ai channel on Drupal Slack.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Release blogs are also quite useful.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8" name="Google Shape;658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Six months of momentum.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Any questions?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1028700" y="2155254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C0E4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C0E4"/>
                </a:solidFill>
                <a:latin typeface="Arial"/>
                <a:ea typeface="Arial"/>
                <a:cs typeface="Arial"/>
                <a:sym typeface="Arial"/>
              </a:rPr>
              <a:t>DRUPAL AI ECOSYSTEM UPDATE </a:t>
            </a:r>
            <a:r>
              <a:rPr b="1" i="0" lang="en-US" sz="2025" u="none" cap="none" strike="noStrike">
                <a:solidFill>
                  <a:srgbClr val="D03136"/>
                </a:solidFill>
              </a:rPr>
              <a:t>//</a:t>
            </a:r>
            <a:r>
              <a:rPr b="0" i="0" lang="en-US" sz="2025" u="none" cap="none" strike="noStrike">
                <a:solidFill>
                  <a:srgbClr val="2BC0E4"/>
                </a:solidFill>
                <a:latin typeface="Arial"/>
                <a:ea typeface="Arial"/>
                <a:cs typeface="Arial"/>
                <a:sym typeface="Arial"/>
              </a:rPr>
              <a:t> DRUPAL SWITZERLAND </a:t>
            </a:r>
            <a:r>
              <a:rPr b="1" i="0" lang="en-US" sz="2025" u="none" cap="none" strike="noStrike">
                <a:solidFill>
                  <a:srgbClr val="D03136"/>
                </a:solidFill>
              </a:rPr>
              <a:t>//</a:t>
            </a:r>
            <a:r>
              <a:rPr b="0" i="0" lang="en-US" sz="2025" u="none" cap="none" strike="noStrike">
                <a:solidFill>
                  <a:srgbClr val="2BC0E4"/>
                </a:solidFill>
                <a:latin typeface="Arial"/>
                <a:ea typeface="Arial"/>
                <a:cs typeface="Arial"/>
                <a:sym typeface="Arial"/>
              </a:rPr>
              <a:t> ZURICH 09/06/2026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028700" y="2826775"/>
            <a:ext cx="12926100" cy="14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0"/>
              <a:buFont typeface="Arial"/>
              <a:buNone/>
            </a:pPr>
            <a:r>
              <a:rPr b="1" i="0" lang="en-US" sz="1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Drupal </a:t>
            </a:r>
            <a:r>
              <a:rPr b="1" i="0" lang="en-US" sz="11250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1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028700" y="4379350"/>
            <a:ext cx="14201100" cy="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Six months of momentum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028700" y="5715322"/>
            <a:ext cx="9025800" cy="12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has been built, what we can celebrate, and what we plan to implement next</a:t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0" i="1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January to July 2026</a:t>
            </a:r>
            <a:r>
              <a:rPr b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>
                <a:solidFill>
                  <a:srgbClr val="FFFFFF"/>
                </a:solidFill>
              </a:rPr>
              <a:t>- by </a:t>
            </a:r>
            <a:r>
              <a:rPr b="1" lang="en-US" sz="3000">
                <a:solidFill>
                  <a:srgbClr val="FFFFFF"/>
                </a:solidFill>
              </a:rPr>
              <a:t>Dan</a:t>
            </a:r>
            <a:r>
              <a:rPr lang="en-US" sz="3000">
                <a:solidFill>
                  <a:srgbClr val="FFFFFF"/>
                </a:solidFill>
              </a:rPr>
              <a:t> Lemon</a:t>
            </a:r>
            <a:endParaRPr b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028700" y="7722096"/>
            <a:ext cx="5907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733550" y="7722096"/>
            <a:ext cx="2481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C0E4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2BC0E4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096095" y="7722096"/>
            <a:ext cx="5907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800945" y="7722096"/>
            <a:ext cx="2481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C0E4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2BC0E4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163491" y="7722096"/>
            <a:ext cx="5907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868341" y="7722096"/>
            <a:ext cx="2481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3C74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63C74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230886" y="7722096"/>
            <a:ext cx="5907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7CA1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07CA1"/>
                </a:solidFill>
                <a:latin typeface="Courier New"/>
                <a:ea typeface="Courier New"/>
                <a:cs typeface="Courier New"/>
                <a:sym typeface="Courier New"/>
              </a:rPr>
              <a:t>2.0</a:t>
            </a:r>
            <a:endParaRPr b="1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8362950"/>
            <a:ext cx="3243600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/>
          <p:nvPr/>
        </p:nvSpPr>
        <p:spPr>
          <a:xfrm>
            <a:off x="3979450" y="9446203"/>
            <a:ext cx="140568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Arial"/>
              <a:buNone/>
            </a:pPr>
            <a:r>
              <a:rPr lang="en-US" sz="3000">
                <a:solidFill>
                  <a:srgbClr val="FFFFFF"/>
                </a:solidFill>
              </a:rPr>
              <a:t>repo: </a:t>
            </a:r>
            <a:r>
              <a:rPr b="1" lang="en-US" sz="3000">
                <a:solidFill>
                  <a:srgbClr val="FFFFFF"/>
                </a:solidFill>
              </a:rPr>
              <a:t>https://github.com/dan2k3k4/whats-new-drupal-ai-july-2026</a:t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IN ONE BREATH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028700" y="1700213"/>
            <a:ext cx="12263438" cy="1592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The core foundation for AI </a:t>
            </a:r>
            <a:r>
              <a:rPr b="1" i="0" lang="en-US" sz="6000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inside </a:t>
            </a: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Drupal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028700" y="3807023"/>
            <a:ext cx="11282400" cy="17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Integrate models, automate tasks, and extend content &amp; marketing workflows</a:t>
            </a:r>
            <a:r>
              <a:rPr lang="en-US" sz="3300">
                <a:solidFill>
                  <a:srgbClr val="3D3D3D"/>
                </a:solidFill>
              </a:rPr>
              <a:t>:</a:t>
            </a:r>
            <a:r>
              <a:rPr b="0" i="0" lang="en-US" sz="33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 provider-agnostic, open source, and always under your control.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107273" y="6719600"/>
            <a:ext cx="2757600" cy="533400"/>
          </a:xfrm>
          <a:prstGeom prst="roundRect">
            <a:avLst>
              <a:gd fmla="val 50000" name="adj"/>
            </a:avLst>
          </a:prstGeom>
          <a:solidFill>
            <a:srgbClr val="CD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317998" y="6814850"/>
            <a:ext cx="241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93C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93C4"/>
                </a:solidFill>
                <a:latin typeface="Arial"/>
                <a:ea typeface="Arial"/>
                <a:cs typeface="Arial"/>
                <a:sym typeface="Arial"/>
              </a:rPr>
              <a:t>Language models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197749" y="7538750"/>
            <a:ext cx="2667000" cy="533400"/>
          </a:xfrm>
          <a:prstGeom prst="roundRect">
            <a:avLst>
              <a:gd fmla="val 50000" name="adj"/>
            </a:avLst>
          </a:prstGeom>
          <a:solidFill>
            <a:srgbClr val="CD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446399" y="7634000"/>
            <a:ext cx="2285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93C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93C4"/>
                </a:solidFill>
                <a:latin typeface="Arial"/>
                <a:ea typeface="Arial"/>
                <a:cs typeface="Arial"/>
                <a:sym typeface="Arial"/>
              </a:rPr>
              <a:t>Content &amp; media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864772" y="7386340"/>
            <a:ext cx="857250" cy="19050"/>
          </a:xfrm>
          <a:prstGeom prst="rect">
            <a:avLst/>
          </a:prstGeom>
          <a:gradFill>
            <a:gsLst>
              <a:gs pos="0">
                <a:srgbClr val="2BC0E4">
                  <a:alpha val="0"/>
                </a:srgbClr>
              </a:gs>
              <a:gs pos="100000">
                <a:srgbClr val="2BC0E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722022" y="6062365"/>
            <a:ext cx="2667000" cy="2667000"/>
          </a:xfrm>
          <a:prstGeom prst="ellipse">
            <a:avLst/>
          </a:prstGeom>
          <a:gradFill>
            <a:gsLst>
              <a:gs pos="0">
                <a:srgbClr val="2A2166"/>
              </a:gs>
              <a:gs pos="42000">
                <a:srgbClr val="101A2E"/>
              </a:gs>
              <a:gs pos="100000">
                <a:srgbClr val="0A0F1E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19050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190500">
              <a:srgbClr val="D81159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268742" y="6895802"/>
            <a:ext cx="1730916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Drupal </a:t>
            </a:r>
            <a:r>
              <a:rPr b="1" i="0" lang="en-US" sz="3150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795668" y="7553027"/>
            <a:ext cx="595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0389022" y="7386340"/>
            <a:ext cx="857250" cy="19050"/>
          </a:xfrm>
          <a:prstGeom prst="rect">
            <a:avLst/>
          </a:prstGeom>
          <a:gradFill>
            <a:gsLst>
              <a:gs pos="0">
                <a:srgbClr val="E63C74"/>
              </a:gs>
              <a:gs pos="100000">
                <a:srgbClr val="E63C74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1246276" y="6719600"/>
            <a:ext cx="3298800" cy="533400"/>
          </a:xfrm>
          <a:prstGeom prst="roundRect">
            <a:avLst>
              <a:gd fmla="val 50000" name="adj"/>
            </a:avLst>
          </a:prstGeom>
          <a:solidFill>
            <a:srgbClr val="FD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1455826" y="6814850"/>
            <a:ext cx="2757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00E49"/>
                </a:solidFill>
                <a:latin typeface="Arial"/>
                <a:ea typeface="Arial"/>
                <a:cs typeface="Arial"/>
                <a:sym typeface="Arial"/>
              </a:rPr>
              <a:t>Editors &amp; workflows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1246277" y="7538750"/>
            <a:ext cx="2582700" cy="533400"/>
          </a:xfrm>
          <a:prstGeom prst="roundRect">
            <a:avLst>
              <a:gd fmla="val 50000" name="adj"/>
            </a:avLst>
          </a:prstGeom>
          <a:solidFill>
            <a:srgbClr val="FD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1455826" y="7634000"/>
            <a:ext cx="1836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00E49"/>
                </a:solidFill>
                <a:latin typeface="Arial"/>
                <a:ea typeface="Arial"/>
                <a:cs typeface="Arial"/>
                <a:sym typeface="Arial"/>
              </a:rPr>
              <a:t>Automations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" name="Google Shape;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C0E4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C0E4"/>
                </a:solidFill>
                <a:latin typeface="Arial"/>
                <a:ea typeface="Arial"/>
                <a:cs typeface="Arial"/>
                <a:sym typeface="Arial"/>
              </a:rPr>
              <a:t>THE SIX-MONTH ARC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028700" y="1700213"/>
            <a:ext cx="17853660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foundation to enterprise-ready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840185" y="4944889"/>
            <a:ext cx="14607629" cy="28575"/>
          </a:xfrm>
          <a:prstGeom prst="rect">
            <a:avLst/>
          </a:prstGeom>
          <a:gradFill>
            <a:gsLst>
              <a:gs pos="0">
                <a:srgbClr val="2BC0E4"/>
              </a:gs>
              <a:gs pos="100000">
                <a:srgbClr val="E63C7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805113" y="4763914"/>
            <a:ext cx="361950" cy="361950"/>
          </a:xfrm>
          <a:prstGeom prst="ellipse">
            <a:avLst/>
          </a:prstGeom>
          <a:solidFill>
            <a:srgbClr val="2BC0E4"/>
          </a:solidFill>
          <a:ln>
            <a:noFill/>
          </a:ln>
          <a:effectLst>
            <a:outerShdw blurRad="101600" rotWithShape="0" algn="bl" dir="16200000" dist="50800">
              <a:srgbClr val="00B6ED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1000601" y="5449714"/>
            <a:ext cx="3970973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Courier New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1.2.x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126950" y="6106939"/>
            <a:ext cx="3718274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foundation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stable</a:t>
            </a:r>
            <a:endParaRPr sz="18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EOL June 2026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910388" y="4763914"/>
            <a:ext cx="361950" cy="36195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16200000" dist="50800">
              <a:srgbClr val="FFFFFF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105876" y="5449714"/>
            <a:ext cx="3970973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Courier New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1.3.0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232225" y="6106939"/>
            <a:ext cx="3718274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lang="en-US" sz="1950">
                <a:solidFill>
                  <a:srgbClr val="FFFFFF"/>
                </a:solidFill>
              </a:rPr>
              <a:t>Biggest</a:t>
            </a: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update ever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March 2026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1015663" y="4763914"/>
            <a:ext cx="361950" cy="361950"/>
          </a:xfrm>
          <a:prstGeom prst="ellipse">
            <a:avLst/>
          </a:prstGeom>
          <a:solidFill>
            <a:srgbClr val="E63C74"/>
          </a:solidFill>
          <a:ln>
            <a:noFill/>
          </a:ln>
          <a:effectLst>
            <a:outerShdw blurRad="101600" rotWithShape="0" algn="bl" dir="16200000" dist="50800">
              <a:srgbClr val="E63C74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9211151" y="5449714"/>
            <a:ext cx="3970973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Courier New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1.4.0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9337500" y="6106939"/>
            <a:ext cx="3718274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Extensibility &amp; enterprise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May / June 2026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5120937" y="4763914"/>
            <a:ext cx="361950" cy="361950"/>
          </a:xfrm>
          <a:prstGeom prst="ellipse">
            <a:avLst/>
          </a:prstGeom>
          <a:noFill/>
          <a:ln cap="flat" cmpd="sng" w="28575">
            <a:solidFill>
              <a:srgbClr val="F07CA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13316426" y="5449714"/>
            <a:ext cx="3970973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7CA1"/>
              </a:buClr>
              <a:buSzPts val="2850"/>
              <a:buFont typeface="Courier New"/>
              <a:buNone/>
            </a:pPr>
            <a:r>
              <a:rPr b="1" i="0" lang="en-US" sz="2850" u="none" cap="none" strike="noStrike">
                <a:solidFill>
                  <a:srgbClr val="F07CA1"/>
                </a:solidFill>
                <a:latin typeface="Courier New"/>
                <a:ea typeface="Courier New"/>
                <a:cs typeface="Courier New"/>
                <a:sym typeface="Courier New"/>
              </a:rPr>
              <a:t>1.5 · 2.0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3442775" y="6106939"/>
            <a:ext cx="3718274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flight now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bi-monthly cadence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" name="Google Shape;7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699" y="9227175"/>
            <a:ext cx="1535000" cy="707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THE THESIS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028700" y="1700225"/>
            <a:ext cx="165414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Why AI </a:t>
            </a:r>
            <a:r>
              <a:rPr b="1" i="0" lang="en-US" sz="6000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inside </a:t>
            </a: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Drupal</a:t>
            </a:r>
            <a:r>
              <a:rPr b="1" lang="en-US" sz="6000">
                <a:solidFill>
                  <a:srgbClr val="202020"/>
                </a:solidFill>
              </a:rPr>
              <a:t>,</a:t>
            </a: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 not bolted on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028700" y="3805684"/>
            <a:ext cx="7848600" cy="3762375"/>
          </a:xfrm>
          <a:prstGeom prst="roundRect">
            <a:avLst>
              <a:gd fmla="val 4051" name="adj"/>
            </a:avLst>
          </a:prstGeom>
          <a:solidFill>
            <a:srgbClr val="F3F3F3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419225" y="4196209"/>
            <a:ext cx="2328267" cy="561975"/>
          </a:xfrm>
          <a:prstGeom prst="roundRect">
            <a:avLst>
              <a:gd fmla="val 50000" name="adj"/>
            </a:avLst>
          </a:prstGeom>
          <a:noFill/>
          <a:ln cap="flat" cmpd="sng" w="142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1550816" y="4305750"/>
            <a:ext cx="210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AI as a bolt-on silo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1419225" y="5005834"/>
            <a:ext cx="279499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0313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D03136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1774924" y="5043934"/>
            <a:ext cx="369949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A separate tool teams juggle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1419225" y="5596384"/>
            <a:ext cx="279499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0313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D03136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1774924" y="5634484"/>
            <a:ext cx="42548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Ungoverned data leaving the org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419225" y="6186934"/>
            <a:ext cx="279499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0313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D03136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774924" y="6225034"/>
            <a:ext cx="297878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No production visibility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419225" y="6777484"/>
            <a:ext cx="279499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0313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D03136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774924" y="6815584"/>
            <a:ext cx="387210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Copy-paste between systems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9410700" y="3805684"/>
            <a:ext cx="7848600" cy="3762375"/>
          </a:xfrm>
          <a:prstGeom prst="roundRect">
            <a:avLst>
              <a:gd fmla="val 4051" name="adj"/>
            </a:avLst>
          </a:prstGeom>
          <a:solidFill>
            <a:srgbClr val="FFFFFF"/>
          </a:solidFill>
          <a:ln cap="flat" cmpd="sng" w="19050">
            <a:solidFill>
              <a:srgbClr val="D81159"/>
            </a:solidFill>
            <a:prstDash val="solid"/>
            <a:round/>
            <a:headEnd len="sm" w="sm" type="none"/>
            <a:tailEnd len="sm" w="sm" type="none"/>
          </a:ln>
          <a:effectLst>
            <a:outerShdw blurRad="457200" rotWithShape="0" algn="bl" dir="5400000" dist="171450">
              <a:srgbClr val="D81159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9810750" y="4205725"/>
            <a:ext cx="3213300" cy="533400"/>
          </a:xfrm>
          <a:prstGeom prst="roundRect">
            <a:avLst>
              <a:gd fmla="val 50000" name="adj"/>
            </a:avLst>
          </a:prstGeom>
          <a:solidFill>
            <a:srgbClr val="FD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9903275" y="4300975"/>
            <a:ext cx="2978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00E49"/>
                </a:solidFill>
                <a:latin typeface="Arial"/>
                <a:ea typeface="Arial"/>
                <a:cs typeface="Arial"/>
                <a:sym typeface="Arial"/>
              </a:rPr>
              <a:t>AI as part of the platform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9810750" y="4986784"/>
            <a:ext cx="31090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BD7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FBD7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0197852" y="5024884"/>
            <a:ext cx="33121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Governed by the platform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9810750" y="5577334"/>
            <a:ext cx="31090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BD7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FBD7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10197852" y="5615434"/>
            <a:ext cx="471498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Integrated into publishing workflows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9810750" y="6167884"/>
            <a:ext cx="31090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BD7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FBD7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0197852" y="6205984"/>
            <a:ext cx="310694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Monitored in production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9810750" y="6758434"/>
            <a:ext cx="31090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BD7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FBD7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0197852" y="6796534"/>
            <a:ext cx="385064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Human-in-the-loop by design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9" name="Google Shape;10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C0E4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C0E4"/>
                </a:solidFill>
                <a:latin typeface="Arial"/>
                <a:ea typeface="Arial"/>
                <a:cs typeface="Arial"/>
                <a:sym typeface="Arial"/>
              </a:rPr>
              <a:t>BY THE NUMBERS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028700" y="1700213"/>
            <a:ext cx="17853660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isn't experimental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028700" y="4060478"/>
            <a:ext cx="4117658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C0E4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2BC0E4"/>
                </a:solidFill>
                <a:latin typeface="Arial"/>
                <a:ea typeface="Arial"/>
                <a:cs typeface="Arial"/>
                <a:sym typeface="Arial"/>
              </a:rPr>
              <a:t>17k+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028700" y="5393978"/>
            <a:ext cx="4117658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Sites running it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028700" y="5917853"/>
            <a:ext cx="411765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production across the community.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191125" y="4060478"/>
            <a:ext cx="4117658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C74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E63C74"/>
                </a:solidFill>
                <a:latin typeface="Arial"/>
                <a:ea typeface="Arial"/>
                <a:cs typeface="Arial"/>
                <a:sym typeface="Arial"/>
              </a:rPr>
              <a:t>48+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191125" y="5393978"/>
            <a:ext cx="4117658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providers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191125" y="5917853"/>
            <a:ext cx="411765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Provider-agnostic by design.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9353550" y="4060478"/>
            <a:ext cx="4117658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BDC1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1FBDC1"/>
                </a:solidFill>
                <a:latin typeface="Arial"/>
                <a:ea typeface="Arial"/>
                <a:cs typeface="Arial"/>
                <a:sym typeface="Arial"/>
              </a:rPr>
              <a:t>300+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9353550" y="5393978"/>
            <a:ext cx="4117658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Contrib modules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9353550" y="5917853"/>
            <a:ext cx="411765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living, growing ecosystem.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699" y="9227175"/>
            <a:ext cx="1535000" cy="707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7" name="Google Shape;1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8"/>
          <p:cNvSpPr/>
          <p:nvPr/>
        </p:nvSpPr>
        <p:spPr>
          <a:xfrm>
            <a:off x="1028700" y="2285554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C0E4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C0E4"/>
                </a:solidFill>
                <a:latin typeface="Arial"/>
                <a:ea typeface="Arial"/>
                <a:cs typeface="Arial"/>
                <a:sym typeface="Arial"/>
              </a:rPr>
              <a:t>MARCH 2026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1028700" y="3052316"/>
            <a:ext cx="1785366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0"/>
              <a:buFont typeface="Arial"/>
              <a:buNone/>
            </a:pPr>
            <a:r>
              <a:rPr b="1" i="0" lang="en-US" sz="2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1.3</a:t>
            </a:r>
            <a:r>
              <a:rPr b="1" i="0" lang="en-US" sz="21000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.0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1028700" y="6252716"/>
            <a:ext cx="10791825" cy="142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largest feature update since the initial release.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699" y="9227175"/>
            <a:ext cx="1535000" cy="707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WHAT ORGANISATIONS ASKED FOR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1028700" y="1700213"/>
            <a:ext cx="17853660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Three things, built into 1.3.0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1028700" y="4433813"/>
            <a:ext cx="5181600" cy="2506117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1028700" y="6930405"/>
            <a:ext cx="51816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1028700" y="4433813"/>
            <a:ext cx="5181600" cy="57150"/>
          </a:xfrm>
          <a:prstGeom prst="rect">
            <a:avLst/>
          </a:prstGeom>
          <a:solidFill>
            <a:srgbClr val="D81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1028700" y="4433813"/>
            <a:ext cx="9525" cy="250611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6200775" y="4433813"/>
            <a:ext cx="9525" cy="250611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1419225" y="4871963"/>
            <a:ext cx="484060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1419225" y="5348213"/>
            <a:ext cx="4840605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Safe &amp; accountable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1419225" y="5831309"/>
            <a:ext cx="453256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Keep AI trustworthy</a:t>
            </a:r>
            <a:r>
              <a:rPr lang="en-US" sz="1950">
                <a:solidFill>
                  <a:srgbClr val="6B6B6B"/>
                </a:solidFill>
              </a:rPr>
              <a:t>,</a:t>
            </a: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with checks the platform enforces.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6553200" y="4433813"/>
            <a:ext cx="5181600" cy="2506117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6553200" y="6930405"/>
            <a:ext cx="51816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6553200" y="4433813"/>
            <a:ext cx="5181600" cy="57150"/>
          </a:xfrm>
          <a:prstGeom prst="rect">
            <a:avLst/>
          </a:prstGeom>
          <a:solidFill>
            <a:srgbClr val="00B6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6553200" y="4433813"/>
            <a:ext cx="9525" cy="250611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1725275" y="4433813"/>
            <a:ext cx="9525" cy="250611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6943725" y="4871963"/>
            <a:ext cx="484060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93C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93C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943725" y="5348213"/>
            <a:ext cx="4840605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Useful for editors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943725" y="5831309"/>
            <a:ext cx="453256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AI that helps content teams inside their real workflow.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12077700" y="4433813"/>
            <a:ext cx="5181600" cy="2506117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12077700" y="6930405"/>
            <a:ext cx="51816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12077700" y="4433813"/>
            <a:ext cx="5181600" cy="57150"/>
          </a:xfrm>
          <a:prstGeom prst="rect">
            <a:avLst/>
          </a:prstGeom>
          <a:solidFill>
            <a:srgbClr val="1FB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12077700" y="4433813"/>
            <a:ext cx="9525" cy="250611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17249775" y="4433813"/>
            <a:ext cx="9525" cy="250611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12468225" y="4871963"/>
            <a:ext cx="484060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BDC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BDC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12468225" y="5348213"/>
            <a:ext cx="4840605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Production visibility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12468225" y="5831309"/>
            <a:ext cx="453256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Give technical teams the monitoring they need to trust 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THE HEADLINE FEATURE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028700" y="1700213"/>
            <a:ext cx="17853660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AI Guardrails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1028700" y="2705993"/>
            <a:ext cx="11282363" cy="1211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Configurable checks that run </a:t>
            </a:r>
            <a:r>
              <a:rPr b="0" i="1" lang="en-US" sz="33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before or after </a:t>
            </a:r>
            <a:r>
              <a:rPr b="0" i="0" lang="en-US" sz="33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any AI request</a:t>
            </a:r>
            <a:endParaRPr sz="3300">
              <a:solidFill>
                <a:srgbClr val="3D3D3D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trust, built into the platform.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1665684" y="5323481"/>
            <a:ext cx="1669500" cy="847800"/>
          </a:xfrm>
          <a:prstGeom prst="roundRect">
            <a:avLst>
              <a:gd fmla="val 50000" name="adj"/>
            </a:avLst>
          </a:prstGeom>
          <a:noFill/>
          <a:ln cap="flat" cmpd="sng" w="142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1944675" y="5547327"/>
            <a:ext cx="11286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3602013" y="5461593"/>
            <a:ext cx="424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4217343" y="4999631"/>
            <a:ext cx="3080700" cy="1495500"/>
          </a:xfrm>
          <a:prstGeom prst="roundRect">
            <a:avLst>
              <a:gd fmla="val 10191" name="adj"/>
            </a:avLst>
          </a:prstGeom>
          <a:solidFill>
            <a:srgbClr val="D81159"/>
          </a:solidFill>
          <a:ln>
            <a:noFill/>
          </a:ln>
          <a:effectLst>
            <a:outerShdw blurRad="381000" rotWithShape="0" algn="bl" dir="5400000" dist="152400">
              <a:srgbClr val="D81159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4482405" y="5304431"/>
            <a:ext cx="25506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Pre-check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4482405" y="5847356"/>
            <a:ext cx="2550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Block before it leaves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7564785" y="5461593"/>
            <a:ext cx="424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8180115" y="5337768"/>
            <a:ext cx="1700100" cy="819300"/>
          </a:xfrm>
          <a:prstGeom prst="roundRect">
            <a:avLst>
              <a:gd fmla="val 50000" name="adj"/>
            </a:avLst>
          </a:prstGeom>
          <a:solidFill>
            <a:srgbClr val="CD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8415200" y="5547327"/>
            <a:ext cx="12771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93C4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93C4"/>
                </a:solidFill>
                <a:latin typeface="Arial"/>
                <a:ea typeface="Arial"/>
                <a:cs typeface="Arial"/>
                <a:sym typeface="Arial"/>
              </a:rPr>
              <a:t>AI model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10147027" y="5461593"/>
            <a:ext cx="424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10762357" y="4999631"/>
            <a:ext cx="3100500" cy="1495500"/>
          </a:xfrm>
          <a:prstGeom prst="roundRect">
            <a:avLst>
              <a:gd fmla="val 10191" name="adj"/>
            </a:avLst>
          </a:prstGeom>
          <a:solidFill>
            <a:srgbClr val="D81159"/>
          </a:solidFill>
          <a:ln>
            <a:noFill/>
          </a:ln>
          <a:effectLst>
            <a:outerShdw blurRad="381000" rotWithShape="0" algn="bl" dir="5400000" dist="152400">
              <a:srgbClr val="D81159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11026426" y="5304431"/>
            <a:ext cx="2572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Post-check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11026426" y="5847356"/>
            <a:ext cx="257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Filter before it returns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14129668" y="5461593"/>
            <a:ext cx="424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4744998" y="5323481"/>
            <a:ext cx="1877100" cy="847800"/>
          </a:xfrm>
          <a:prstGeom prst="roundRect">
            <a:avLst>
              <a:gd fmla="val 50000" name="adj"/>
            </a:avLst>
          </a:prstGeom>
          <a:noFill/>
          <a:ln cap="flat" cmpd="sng" w="142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15083124" y="5547327"/>
            <a:ext cx="13659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217170" y="6952256"/>
            <a:ext cx="178536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No code · applies across </a:t>
            </a:r>
            <a:r>
              <a:rPr b="1" i="0" lang="en-US" sz="21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all </a:t>
            </a:r>
            <a:r>
              <a:rPr b="0" i="0" lang="en-US" sz="2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AI operations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9" name="Google Shape;18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5" name="Google Shape;19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1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C0E4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C0E4"/>
                </a:solidFill>
                <a:latin typeface="Arial"/>
                <a:ea typeface="Arial"/>
                <a:cs typeface="Arial"/>
                <a:sym typeface="Arial"/>
              </a:rPr>
              <a:t>WHY IT MATTERS · FOR THE BUSINESS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1028700" y="1700225"/>
            <a:ext cx="15540300" cy="15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Governance becomes part of the</a:t>
            </a:r>
            <a:r>
              <a:rPr b="1" lang="en-US" sz="6000">
                <a:solidFill>
                  <a:srgbClr val="FFFFFF"/>
                </a:solidFill>
              </a:rPr>
              <a:t> </a:t>
            </a: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platform</a:t>
            </a:r>
            <a:endParaRPr b="1" sz="60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 an afterthought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1028700" y="4740473"/>
            <a:ext cx="5156100" cy="1938900"/>
          </a:xfrm>
          <a:prstGeom prst="roundRect">
            <a:avLst>
              <a:gd fmla="val 7860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FFFFFF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1419225" y="5130998"/>
            <a:ext cx="48126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single oversight point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1419225" y="5574432"/>
            <a:ext cx="450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Security &amp; compliance teams see and shape all AI use in one place.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6565850" y="4740473"/>
            <a:ext cx="5156100" cy="1938900"/>
          </a:xfrm>
          <a:prstGeom prst="roundRect">
            <a:avLst>
              <a:gd fmla="val 7860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FFFFFF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6956375" y="5130998"/>
            <a:ext cx="48126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Responsible by default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6956375" y="5574432"/>
            <a:ext cx="450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Policies enforced automatically — not left to individual editors.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12103075" y="4740473"/>
            <a:ext cx="5156100" cy="1938900"/>
          </a:xfrm>
          <a:prstGeom prst="roundRect">
            <a:avLst>
              <a:gd fmla="val 7860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FFFFFF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12493600" y="5130998"/>
            <a:ext cx="48126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 trust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12493600" y="5574432"/>
            <a:ext cx="450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story you can tell buyers who worry about AI risk.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" name="Google Shape;20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699" y="9227175"/>
            <a:ext cx="1535000" cy="707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FOR EDITORS · FIELD WIDGET ACTIONS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1028700" y="1700213"/>
            <a:ext cx="17853660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One-click AI, right where editors work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1028700" y="3850184"/>
            <a:ext cx="3871913" cy="1712863"/>
          </a:xfrm>
          <a:prstGeom prst="roundRect">
            <a:avLst>
              <a:gd fmla="val 889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1343025" y="4164509"/>
            <a:ext cx="3567589" cy="3260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Text → image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1343025" y="4585841"/>
            <a:ext cx="3340560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Generate visuals and attach as media.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5148263" y="3850184"/>
            <a:ext cx="3871913" cy="1712863"/>
          </a:xfrm>
          <a:prstGeom prst="roundRect">
            <a:avLst>
              <a:gd fmla="val 889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5462588" y="4164509"/>
            <a:ext cx="3567589" cy="3260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FAQ builder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5462588" y="4585841"/>
            <a:ext cx="3340560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Structured FAQs from your content.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9267825" y="3850184"/>
            <a:ext cx="3871913" cy="1712863"/>
          </a:xfrm>
          <a:prstGeom prst="roundRect">
            <a:avLst>
              <a:gd fmla="val 889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9582150" y="4164509"/>
            <a:ext cx="3567589" cy="3260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Image → address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9582150" y="4585841"/>
            <a:ext cx="3340560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Extract locations via Google Places.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13387388" y="3850184"/>
            <a:ext cx="3871913" cy="1712863"/>
          </a:xfrm>
          <a:prstGeom prst="roundRect">
            <a:avLst>
              <a:gd fmla="val 889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13701713" y="4164509"/>
            <a:ext cx="3567589" cy="3260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CSV → chart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13701713" y="4585841"/>
            <a:ext cx="3340560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Plot data straight into a chart field.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1028700" y="5810696"/>
            <a:ext cx="3871913" cy="1712863"/>
          </a:xfrm>
          <a:prstGeom prst="roundRect">
            <a:avLst>
              <a:gd fmla="val 889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1343025" y="6125021"/>
            <a:ext cx="3567589" cy="3260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Audio summaries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1343025" y="6546354"/>
            <a:ext cx="3567589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Text-to-speech in one click.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5148263" y="5810696"/>
            <a:ext cx="3871913" cy="1712863"/>
          </a:xfrm>
          <a:prstGeom prst="roundRect">
            <a:avLst>
              <a:gd fmla="val 889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5462588" y="6125021"/>
            <a:ext cx="3567589" cy="3260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Auto-metadata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5462588" y="6546354"/>
            <a:ext cx="3340560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Phone, office hours, and more.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9267825" y="5810696"/>
            <a:ext cx="3871913" cy="1712863"/>
          </a:xfrm>
          <a:prstGeom prst="roundRect">
            <a:avLst>
              <a:gd fmla="val 889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9582150" y="6125021"/>
            <a:ext cx="3567589" cy="3260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Publish-readiness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9582150" y="6546354"/>
            <a:ext cx="3340560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Evaluate and set moderation state.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13387388" y="5810696"/>
            <a:ext cx="3871913" cy="1712863"/>
          </a:xfrm>
          <a:prstGeom prst="roundRect">
            <a:avLst>
              <a:gd fmla="val 8897" name="adj"/>
            </a:avLst>
          </a:prstGeom>
          <a:solidFill>
            <a:srgbClr val="FD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13701713" y="6125021"/>
            <a:ext cx="3567589" cy="3260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B00E49"/>
                </a:solidFill>
                <a:latin typeface="Arial"/>
                <a:ea typeface="Arial"/>
                <a:cs typeface="Arial"/>
                <a:sym typeface="Arial"/>
              </a:rPr>
              <a:t>100+ more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13701713" y="6546354"/>
            <a:ext cx="3340560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00E49"/>
                </a:solidFill>
                <a:latin typeface="Arial"/>
                <a:ea typeface="Arial"/>
                <a:cs typeface="Arial"/>
                <a:sym typeface="Arial"/>
              </a:rPr>
              <a:t>And every one is customisable.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9" name="Google Shape;2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/>
          <p:nvPr/>
        </p:nvSpPr>
        <p:spPr>
          <a:xfrm>
            <a:off x="1028700" y="1772245"/>
            <a:ext cx="859155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CONTEXT-AWARE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1028700" y="2443758"/>
            <a:ext cx="8044815" cy="1592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The chatbot understands the page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1028700" y="4379119"/>
            <a:ext cx="8044800" cy="12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It receives page context, so requests act on what's actually on screen.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1028700" y="5971580"/>
            <a:ext cx="7810500" cy="676200"/>
          </a:xfrm>
          <a:prstGeom prst="roundRect">
            <a:avLst>
              <a:gd fmla="val 50000" name="adj"/>
            </a:avLst>
          </a:prstGeom>
          <a:solidFill>
            <a:srgbClr val="CD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1295400" y="6123980"/>
            <a:ext cx="75114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93C4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93C4"/>
                </a:solidFill>
                <a:latin typeface="Arial"/>
                <a:ea typeface="Arial"/>
                <a:cs typeface="Arial"/>
                <a:sym typeface="Arial"/>
              </a:rPr>
              <a:t>"Make this title more engaging"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1028700" y="6800255"/>
            <a:ext cx="7810500" cy="676200"/>
          </a:xfrm>
          <a:prstGeom prst="roundRect">
            <a:avLst>
              <a:gd fmla="val 50000" name="adj"/>
            </a:avLst>
          </a:prstGeom>
          <a:solidFill>
            <a:srgbClr val="CD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1295400" y="6952655"/>
            <a:ext cx="75114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93C4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93C4"/>
                </a:solidFill>
                <a:latin typeface="Arial"/>
                <a:ea typeface="Arial"/>
                <a:cs typeface="Arial"/>
                <a:sym typeface="Arial"/>
              </a:rPr>
              <a:t>"Summarise this for social"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1028700" y="7628930"/>
            <a:ext cx="7810500" cy="676200"/>
          </a:xfrm>
          <a:prstGeom prst="roundRect">
            <a:avLst>
              <a:gd fmla="val 50000" name="adj"/>
            </a:avLst>
          </a:prstGeom>
          <a:solidFill>
            <a:srgbClr val="FD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1295400" y="7781330"/>
            <a:ext cx="75114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B00E49"/>
                </a:solidFill>
                <a:latin typeface="Arial"/>
                <a:ea typeface="Arial"/>
                <a:cs typeface="Arial"/>
                <a:sym typeface="Arial"/>
              </a:rPr>
              <a:t>Custom loading messages, not generic spinners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9448800" y="2581275"/>
            <a:ext cx="7810500" cy="4762500"/>
          </a:xfrm>
          <a:prstGeom prst="roundRect">
            <a:avLst>
              <a:gd fmla="val 3600" name="adj"/>
            </a:avLst>
          </a:prstGeom>
          <a:solidFill>
            <a:srgbClr val="FDEDF2"/>
          </a:solidFill>
          <a:ln cap="flat" cmpd="sng" w="28575">
            <a:solidFill>
              <a:srgbClr val="F07CA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11702861" y="4255889"/>
            <a:ext cx="3302377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3C7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63C74"/>
                </a:solidFill>
                <a:latin typeface="Arial"/>
                <a:ea typeface="Arial"/>
                <a:cs typeface="Arial"/>
                <a:sym typeface="Arial"/>
              </a:rPr>
              <a:t>DEMO · OPTIONAL GIF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11234928" y="4709220"/>
            <a:ext cx="4238244" cy="9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00E49"/>
                </a:solidFill>
                <a:latin typeface="Courier New"/>
                <a:ea typeface="Courier New"/>
                <a:cs typeface="Courier New"/>
                <a:sym typeface="Courier New"/>
              </a:rPr>
              <a:t>chatbot-user-demo.gif — bubble pointing at the article it's discussing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7" name="Google Shape;2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"/>
          <p:cNvSpPr/>
          <p:nvPr/>
        </p:nvSpPr>
        <p:spPr>
          <a:xfrm>
            <a:off x="1028700" y="2116336"/>
            <a:ext cx="859155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FOR DEVELOPERS &amp; SITE BUILDERS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1028700" y="2787848"/>
            <a:ext cx="8591550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Better building blocks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1028700" y="3869829"/>
            <a:ext cx="8044800" cy="17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Reusable form elements purpose-built for AI workflows</a:t>
            </a:r>
            <a:r>
              <a:rPr lang="en-US" sz="3300">
                <a:solidFill>
                  <a:srgbClr val="3D3D3D"/>
                </a:solidFill>
              </a:rPr>
              <a:t>,</a:t>
            </a:r>
            <a:r>
              <a:rPr b="0" i="0" lang="en-US" sz="33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 consistent interfaces, far less boilerplate.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1028700" y="6506175"/>
            <a:ext cx="7886700" cy="18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Markdown editor, provider selector &amp; more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Prompts as human-readable, reviewable config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New ops: rerank, summarize, object detection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9448800" y="1057201"/>
            <a:ext cx="2489225" cy="2489225"/>
          </a:xfrm>
          <a:prstGeom prst="roundRect">
            <a:avLst>
              <a:gd fmla="val 5357" name="adj"/>
            </a:avLst>
          </a:prstGeom>
          <a:solidFill>
            <a:srgbClr val="FD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12109475" y="1057201"/>
            <a:ext cx="2489225" cy="2489225"/>
          </a:xfrm>
          <a:prstGeom prst="roundRect">
            <a:avLst>
              <a:gd fmla="val 5357" name="adj"/>
            </a:avLst>
          </a:prstGeom>
          <a:solidFill>
            <a:srgbClr val="CD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14770150" y="1057201"/>
            <a:ext cx="2489225" cy="2489225"/>
          </a:xfrm>
          <a:prstGeom prst="roundRect">
            <a:avLst>
              <a:gd fmla="val 535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9448800" y="3717875"/>
            <a:ext cx="2489225" cy="2489225"/>
          </a:xfrm>
          <a:prstGeom prst="roundRect">
            <a:avLst>
              <a:gd fmla="val 5357" name="adj"/>
            </a:avLst>
          </a:prstGeom>
          <a:solidFill>
            <a:srgbClr val="CD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12109475" y="3717875"/>
            <a:ext cx="2489225" cy="2489225"/>
          </a:xfrm>
          <a:prstGeom prst="roundRect">
            <a:avLst>
              <a:gd fmla="val 5357" name="adj"/>
            </a:avLst>
          </a:prstGeom>
          <a:solidFill>
            <a:srgbClr val="D81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14770150" y="3717875"/>
            <a:ext cx="2489225" cy="2489225"/>
          </a:xfrm>
          <a:prstGeom prst="roundRect">
            <a:avLst>
              <a:gd fmla="val 5357" name="adj"/>
            </a:avLst>
          </a:prstGeom>
          <a:solidFill>
            <a:srgbClr val="FD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9448800" y="6378550"/>
            <a:ext cx="2489225" cy="2489225"/>
          </a:xfrm>
          <a:prstGeom prst="roundRect">
            <a:avLst>
              <a:gd fmla="val 535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12109475" y="6378550"/>
            <a:ext cx="2489225" cy="2489225"/>
          </a:xfrm>
          <a:prstGeom prst="roundRect">
            <a:avLst>
              <a:gd fmla="val 5357" name="adj"/>
            </a:avLst>
          </a:prstGeom>
          <a:solidFill>
            <a:srgbClr val="FD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14770150" y="6378550"/>
            <a:ext cx="2489225" cy="2489225"/>
          </a:xfrm>
          <a:prstGeom prst="roundRect">
            <a:avLst>
              <a:gd fmla="val 5357" name="adj"/>
            </a:avLst>
          </a:prstGeom>
          <a:solidFill>
            <a:srgbClr val="CD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6" name="Google Shape;2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PRODUCTION-GRADE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1028700" y="1700213"/>
            <a:ext cx="17853660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Observability, via Open Telemetry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3279502" y="3844230"/>
            <a:ext cx="1937400" cy="962100"/>
          </a:xfrm>
          <a:prstGeom prst="roundRect">
            <a:avLst>
              <a:gd fmla="val 15842" name="adj"/>
            </a:avLst>
          </a:prstGeom>
          <a:gradFill>
            <a:gsLst>
              <a:gs pos="0">
                <a:srgbClr val="B00E49"/>
              </a:gs>
              <a:gs pos="100000">
                <a:srgbClr val="E63C74"/>
              </a:gs>
            </a:gsLst>
            <a:lin ang="15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3584300" y="4110925"/>
            <a:ext cx="14223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Drupal AI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5521672" y="4068068"/>
            <a:ext cx="3903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6140574" y="3844230"/>
            <a:ext cx="2991300" cy="962100"/>
          </a:xfrm>
          <a:prstGeom prst="roundRect">
            <a:avLst>
              <a:gd fmla="val 15842" name="adj"/>
            </a:avLst>
          </a:prstGeom>
          <a:solidFill>
            <a:srgbClr val="10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6445375" y="4110925"/>
            <a:ext cx="24987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Open Telemetry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9436596" y="4068068"/>
            <a:ext cx="3903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10055498" y="3696593"/>
            <a:ext cx="1311900" cy="561900"/>
          </a:xfrm>
          <a:prstGeom prst="roundRect">
            <a:avLst>
              <a:gd fmla="val 50000" name="adj"/>
            </a:avLst>
          </a:prstGeom>
          <a:noFill/>
          <a:ln cap="flat" cmpd="sng" w="142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10265775" y="3806125"/>
            <a:ext cx="101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Datadog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11500842" y="3696593"/>
            <a:ext cx="1273800" cy="561900"/>
          </a:xfrm>
          <a:prstGeom prst="roundRect">
            <a:avLst>
              <a:gd fmla="val 50000" name="adj"/>
            </a:avLst>
          </a:prstGeom>
          <a:noFill/>
          <a:ln cap="flat" cmpd="sng" w="142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11724674" y="3806125"/>
            <a:ext cx="101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Grafana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12907863" y="3696593"/>
            <a:ext cx="1108500" cy="561900"/>
          </a:xfrm>
          <a:prstGeom prst="roundRect">
            <a:avLst>
              <a:gd fmla="val 50000" name="adj"/>
            </a:avLst>
          </a:prstGeom>
          <a:noFill/>
          <a:ln cap="flat" cmpd="sng" w="142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13131700" y="3806125"/>
            <a:ext cx="8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Sentry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10055498" y="4391918"/>
            <a:ext cx="1146600" cy="561900"/>
          </a:xfrm>
          <a:prstGeom prst="roundRect">
            <a:avLst>
              <a:gd fmla="val 50000" name="adj"/>
            </a:avLst>
          </a:prstGeom>
          <a:noFill/>
          <a:ln cap="flat" cmpd="sng" w="142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10172574" y="4501450"/>
            <a:ext cx="8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Splunk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11335494" y="4391918"/>
            <a:ext cx="1489500" cy="561900"/>
          </a:xfrm>
          <a:prstGeom prst="roundRect">
            <a:avLst>
              <a:gd fmla="val 50000" name="adj"/>
            </a:avLst>
          </a:prstGeom>
          <a:noFill/>
          <a:ln cap="flat" cmpd="sng" w="142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11559324" y="4501450"/>
            <a:ext cx="1311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Dynatrace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1028700" y="5677793"/>
            <a:ext cx="3871800" cy="1616100"/>
          </a:xfrm>
          <a:prstGeom prst="roundRect">
            <a:avLst>
              <a:gd fmla="val 943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1304925" y="5954018"/>
            <a:ext cx="36513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Traces &amp; spans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1304925" y="6354812"/>
            <a:ext cx="34191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See every AI interaction end-to-end.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5148263" y="5677793"/>
            <a:ext cx="3871800" cy="1616100"/>
          </a:xfrm>
          <a:prstGeom prst="roundRect">
            <a:avLst>
              <a:gd fmla="val 943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5424488" y="5954018"/>
            <a:ext cx="36513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Cost tracking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5424488" y="6354812"/>
            <a:ext cx="34191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Token usage and spend, monitored.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9267825" y="5677793"/>
            <a:ext cx="3871800" cy="1616100"/>
          </a:xfrm>
          <a:prstGeom prst="roundRect">
            <a:avLst>
              <a:gd fmla="val 943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9544050" y="5954018"/>
            <a:ext cx="36513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Agent decisions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9544050" y="6354812"/>
            <a:ext cx="34191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Audit what agents did and why.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13387388" y="5677793"/>
            <a:ext cx="3871800" cy="1616100"/>
          </a:xfrm>
          <a:prstGeom prst="roundRect">
            <a:avLst>
              <a:gd fmla="val 943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13663613" y="5954018"/>
            <a:ext cx="36513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Exclude-tags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13663613" y="6354812"/>
            <a:ext cx="36513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Fine-grained privacy control.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2" name="Google Shape;3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8" name="Google Shape;3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6"/>
          <p:cNvSpPr/>
          <p:nvPr/>
        </p:nvSpPr>
        <p:spPr>
          <a:xfrm>
            <a:off x="1028700" y="2707481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C0E4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C0E4"/>
                </a:solidFill>
                <a:latin typeface="Arial"/>
                <a:ea typeface="Arial"/>
                <a:cs typeface="Arial"/>
                <a:sym typeface="Arial"/>
              </a:rPr>
              <a:t>MAY / JUNE 2026 · TWO MONTHS LATER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1028700" y="3474244"/>
            <a:ext cx="1785366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0"/>
              <a:buFont typeface="Arial"/>
              <a:buNone/>
            </a:pPr>
            <a:r>
              <a:rPr b="1" i="0" lang="en-US" sz="2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1.4</a:t>
            </a:r>
            <a:r>
              <a:rPr b="1" i="0" lang="en-US" sz="21000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.0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1028700" y="6731794"/>
            <a:ext cx="2778666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Extensibility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3726210" y="6731794"/>
            <a:ext cx="27057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C0E4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2BC0E4"/>
                </a:solidFill>
                <a:latin typeface="Courier New"/>
                <a:ea typeface="Courier New"/>
                <a:cs typeface="Courier New"/>
                <a:sym typeface="Courier New"/>
              </a:rPr>
              <a:t>·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4092029" y="6731794"/>
            <a:ext cx="213741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Resilience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6206579" y="6731794"/>
            <a:ext cx="27057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C0E4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2BC0E4"/>
                </a:solidFill>
                <a:latin typeface="Courier New"/>
                <a:ea typeface="Courier New"/>
                <a:cs typeface="Courier New"/>
                <a:sym typeface="Courier New"/>
              </a:rPr>
              <a:t>·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6572399" y="6731794"/>
            <a:ext cx="213741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Guardrails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6" name="Google Shape;3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699" y="9227175"/>
            <a:ext cx="1535000" cy="707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7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FOR DEVELOPERS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1028700" y="1700213"/>
            <a:ext cx="17853660" cy="8408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"Skills" + </a:t>
            </a:r>
            <a:r>
              <a:rPr b="1" i="0" lang="en-US" sz="4800" u="none" cap="none" strike="noStrike">
                <a:solidFill>
                  <a:srgbClr val="202020"/>
                </a:solidFill>
                <a:latin typeface="Courier New"/>
                <a:ea typeface="Courier New"/>
                <a:cs typeface="Courier New"/>
                <a:sym typeface="Courier New"/>
              </a:rPr>
              <a:t>drush generate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1028700" y="2731517"/>
            <a:ext cx="11772900" cy="1211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Scaffold providers, automators, guardrails, FWAs &amp; more</a:t>
            </a:r>
            <a:br>
              <a:rPr lang="en-US" sz="3300">
                <a:solidFill>
                  <a:srgbClr val="3D3D3D"/>
                </a:solidFill>
              </a:rPr>
            </a:br>
            <a:r>
              <a:rPr b="0" i="0" lang="en-US" sz="33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best-practice code in minutes.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1028700" y="4743075"/>
            <a:ext cx="11430000" cy="2787600"/>
          </a:xfrm>
          <a:prstGeom prst="roundRect">
            <a:avLst>
              <a:gd fmla="val 5664" name="adj"/>
            </a:avLst>
          </a:prstGeom>
          <a:solidFill>
            <a:srgbClr val="10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1409700" y="5066924"/>
            <a:ext cx="11010900" cy="24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C88A8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7C88A8"/>
                </a:solidFill>
                <a:latin typeface="Courier New"/>
                <a:ea typeface="Courier New"/>
                <a:cs typeface="Courier New"/>
                <a:sym typeface="Courier New"/>
              </a:rPr>
              <a:t># scaffold a best-practice integration</a:t>
            </a:r>
            <a:endParaRPr b="1" sz="2100">
              <a:solidFill>
                <a:srgbClr val="7C88A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C88A8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2BC0E4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1" i="0" lang="en-US" sz="2100" u="none" cap="none" strike="noStrike">
                <a:solidFill>
                  <a:srgbClr val="E8ECF5"/>
                </a:solidFill>
                <a:highlight>
                  <a:srgbClr val="101A2E"/>
                </a:highlight>
                <a:latin typeface="Courier New"/>
                <a:ea typeface="Courier New"/>
                <a:cs typeface="Courier New"/>
                <a:sym typeface="Courier New"/>
              </a:rPr>
              <a:t>drush generate ai:provider</a:t>
            </a:r>
            <a:endParaRPr b="1" sz="2100">
              <a:solidFill>
                <a:srgbClr val="E8ECF5"/>
              </a:solidFill>
              <a:highlight>
                <a:srgbClr val="101A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C88A8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7C88A8"/>
                </a:solidFill>
                <a:latin typeface="Courier New"/>
                <a:ea typeface="Courier New"/>
                <a:cs typeface="Courier New"/>
                <a:sym typeface="Courier New"/>
              </a:rPr>
              <a:t>&gt; Generating provider plugin…</a:t>
            </a:r>
            <a:endParaRPr b="1" sz="2100">
              <a:solidFill>
                <a:srgbClr val="7C88A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C88A8"/>
              </a:buClr>
              <a:buSzPts val="2100"/>
              <a:buFont typeface="Courier New"/>
              <a:buNone/>
            </a:pPr>
            <a:r>
              <a:rPr b="1" i="0" lang="en-US" sz="2100" u="none" cap="none" strike="noStrike">
                <a:solidFill>
                  <a:srgbClr val="8FD6A0"/>
                </a:solidFill>
                <a:latin typeface="Courier New"/>
                <a:ea typeface="Courier New"/>
                <a:cs typeface="Courier New"/>
                <a:sym typeface="Courier New"/>
              </a:rPr>
              <a:t>✓ Follows Drupal AI conventions — ready to extend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7" name="Google Shape;3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8"/>
          <p:cNvSpPr/>
          <p:nvPr/>
        </p:nvSpPr>
        <p:spPr>
          <a:xfrm>
            <a:off x="1028700" y="1727746"/>
            <a:ext cx="859155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NEW IN 1.4 · CHAT NORMALIZATION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1028700" y="2399258"/>
            <a:ext cx="8044815" cy="1592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Talk to Drupal AI from Slack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1028700" y="4334625"/>
            <a:ext cx="8326800" cy="21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Chat is now decoupled from its processors:</a:t>
            </a:r>
            <a:r>
              <a:rPr lang="en-US" sz="3300">
                <a:solidFill>
                  <a:srgbClr val="3D3D3D"/>
                </a:solidFill>
              </a:rPr>
              <a:t> </a:t>
            </a:r>
            <a:r>
              <a:rPr b="0" i="0" lang="en-US" sz="33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reach Drupal AI agents straight from Slack.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1104900" y="6666150"/>
            <a:ext cx="7810500" cy="18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Shown with the Webform Agent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Meet users in their existing tools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Groundwork for the AI Agents processor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9448800" y="2581201"/>
            <a:ext cx="7810500" cy="4762500"/>
          </a:xfrm>
          <a:prstGeom prst="roundRect">
            <a:avLst>
              <a:gd fmla="val 3600" name="adj"/>
            </a:avLst>
          </a:prstGeom>
          <a:solidFill>
            <a:srgbClr val="FDEDF2"/>
          </a:solidFill>
          <a:ln cap="flat" cmpd="sng" w="28575">
            <a:solidFill>
              <a:srgbClr val="F07CA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10136475" y="4415805"/>
            <a:ext cx="643515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3C7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63C74"/>
                </a:solidFill>
                <a:latin typeface="Arial"/>
                <a:ea typeface="Arial"/>
                <a:cs typeface="Arial"/>
                <a:sym typeface="Arial"/>
              </a:rPr>
              <a:t>SCREENSHOT · CHAT-NORMALISATION.PNG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11517448" y="4869135"/>
            <a:ext cx="3673129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00E49"/>
                </a:solidFill>
                <a:latin typeface="Courier New"/>
                <a:ea typeface="Courier New"/>
                <a:cs typeface="Courier New"/>
                <a:sym typeface="Courier New"/>
              </a:rPr>
              <a:t>Slack window chatting with a Drupal AI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0" name="Google Shape;3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9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AUTOMATORS × VIEWS BULK OPERATIONS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1028700" y="1700213"/>
            <a:ext cx="17853660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AI across thousands of items at once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1028700" y="3741241"/>
            <a:ext cx="5219700" cy="1982242"/>
          </a:xfrm>
          <a:prstGeom prst="roundRect">
            <a:avLst>
              <a:gd fmla="val 7688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1419225" y="4131766"/>
            <a:ext cx="4882515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Bulk alt-text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1419225" y="4614863"/>
            <a:ext cx="457181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Accessibility across an entire media library.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6534150" y="3741241"/>
            <a:ext cx="5219700" cy="1982242"/>
          </a:xfrm>
          <a:prstGeom prst="roundRect">
            <a:avLst>
              <a:gd fmla="val 7688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6924675" y="4131766"/>
            <a:ext cx="4882515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Archive summarization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6924675" y="4614863"/>
            <a:ext cx="4882515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Digest migrated content at scale.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12039600" y="3741241"/>
            <a:ext cx="5219700" cy="1982242"/>
          </a:xfrm>
          <a:prstGeom prst="roundRect">
            <a:avLst>
              <a:gd fmla="val 7688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12430125" y="4131766"/>
            <a:ext cx="4882515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Auto-tagging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12430125" y="4614863"/>
            <a:ext cx="457181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Large-scale classification in one pass.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1028700" y="6009233"/>
            <a:ext cx="5219700" cy="1623194"/>
          </a:xfrm>
          <a:prstGeom prst="roundRect">
            <a:avLst>
              <a:gd fmla="val 938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1419225" y="6399758"/>
            <a:ext cx="4882515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Batch translation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1419225" y="6882854"/>
            <a:ext cx="4882515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Product descriptions, all at once.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6534150" y="6009233"/>
            <a:ext cx="5219700" cy="1623194"/>
          </a:xfrm>
          <a:prstGeom prst="roundRect">
            <a:avLst>
              <a:gd fmla="val 938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6924675" y="6399758"/>
            <a:ext cx="4882515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Custom workflows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6924675" y="6882854"/>
            <a:ext cx="4882515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Your own AI editorial pipelines.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12039600" y="6009233"/>
            <a:ext cx="5219700" cy="1623194"/>
          </a:xfrm>
          <a:prstGeom prst="roundRect">
            <a:avLst>
              <a:gd fmla="val 9389" name="adj"/>
            </a:avLst>
          </a:prstGeom>
          <a:solidFill>
            <a:srgbClr val="FD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12430125" y="6399758"/>
            <a:ext cx="4882515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B00E49"/>
                </a:solidFill>
                <a:latin typeface="Arial"/>
                <a:ea typeface="Arial"/>
                <a:cs typeface="Arial"/>
                <a:sym typeface="Arial"/>
              </a:rPr>
              <a:t>Migration accelerator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12430125" y="6882854"/>
            <a:ext cx="4882515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B00E49"/>
                </a:solidFill>
                <a:latin typeface="Arial"/>
                <a:ea typeface="Arial"/>
                <a:cs typeface="Arial"/>
                <a:sym typeface="Arial"/>
              </a:rPr>
              <a:t>Turn a backlog into a one-click job.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6" name="Google Shape;3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ENTERPRISE RELIABILITY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1028700" y="1700213"/>
            <a:ext cx="17853660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Failover groundwork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1028700" y="2782193"/>
            <a:ext cx="11772900" cy="12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Architectural groundwork for high availability</a:t>
            </a:r>
            <a:br>
              <a:rPr lang="en-US" sz="3300">
                <a:solidFill>
                  <a:srgbClr val="3D3D3D"/>
                </a:solidFill>
              </a:rPr>
            </a:br>
            <a:r>
              <a:rPr b="0" i="0" lang="en-US" sz="33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failover and redundancy across the AI stack.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3903390" y="5203329"/>
            <a:ext cx="2642100" cy="819300"/>
          </a:xfrm>
          <a:prstGeom prst="roundRect">
            <a:avLst>
              <a:gd fmla="val 50000" name="adj"/>
            </a:avLst>
          </a:prstGeom>
          <a:solidFill>
            <a:srgbClr val="CD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4093901" y="5412875"/>
            <a:ext cx="2299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93C4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93C4"/>
                </a:solidFill>
                <a:latin typeface="Arial"/>
                <a:ea typeface="Arial"/>
                <a:cs typeface="Arial"/>
                <a:sym typeface="Arial"/>
              </a:rPr>
              <a:t>Primary provider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6738290" y="5098554"/>
            <a:ext cx="16251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03136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D03136"/>
                </a:solidFill>
                <a:latin typeface="Arial"/>
                <a:ea typeface="Arial"/>
                <a:cs typeface="Arial"/>
                <a:sym typeface="Arial"/>
              </a:rPr>
              <a:t>⚡ outage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6738290" y="5584329"/>
            <a:ext cx="16251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8556278" y="5150941"/>
            <a:ext cx="2350500" cy="924000"/>
          </a:xfrm>
          <a:prstGeom prst="roundRect">
            <a:avLst>
              <a:gd fmla="val 16495" name="adj"/>
            </a:avLst>
          </a:prstGeom>
          <a:gradFill>
            <a:gsLst>
              <a:gs pos="0">
                <a:srgbClr val="B00E49"/>
              </a:gs>
              <a:gs pos="100000">
                <a:srgbClr val="E63C74"/>
              </a:gs>
            </a:gsLst>
            <a:lin ang="1500000" scaled="0"/>
          </a:gradFill>
          <a:ln>
            <a:noFill/>
          </a:ln>
          <a:effectLst>
            <a:outerShdw blurRad="381000" rotWithShape="0" algn="bl" dir="5400000" dist="152400">
              <a:srgbClr val="D81159">
                <a:alpha val="2392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8937275" y="5398600"/>
            <a:ext cx="18024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Auto-reroute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0"/>
          <p:cNvSpPr/>
          <p:nvPr/>
        </p:nvSpPr>
        <p:spPr>
          <a:xfrm>
            <a:off x="11173346" y="5341441"/>
            <a:ext cx="407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11771486" y="5203329"/>
            <a:ext cx="2613000" cy="819300"/>
          </a:xfrm>
          <a:prstGeom prst="roundRect">
            <a:avLst>
              <a:gd fmla="val 50000" name="adj"/>
            </a:avLst>
          </a:prstGeom>
          <a:solidFill>
            <a:srgbClr val="FD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0"/>
          <p:cNvSpPr/>
          <p:nvPr/>
        </p:nvSpPr>
        <p:spPr>
          <a:xfrm>
            <a:off x="12114374" y="5412875"/>
            <a:ext cx="21591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B00E49"/>
                </a:solidFill>
                <a:latin typeface="Arial"/>
                <a:ea typeface="Arial"/>
                <a:cs typeface="Arial"/>
                <a:sym typeface="Arial"/>
              </a:rPr>
              <a:t>Backup provider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0"/>
          <p:cNvSpPr/>
          <p:nvPr/>
        </p:nvSpPr>
        <p:spPr>
          <a:xfrm>
            <a:off x="217170" y="6546354"/>
            <a:ext cx="178536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Sets up ECA-driven routing — coming next.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5" name="Google Shape;3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1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THE 1.3 FEATURE GROWS UP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1028700" y="1700213"/>
            <a:ext cx="17853660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Advanced guardrails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1028700" y="4152826"/>
            <a:ext cx="5181600" cy="2029867"/>
          </a:xfrm>
          <a:prstGeom prst="roundRect">
            <a:avLst>
              <a:gd fmla="val 750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1"/>
          <p:cNvSpPr/>
          <p:nvPr/>
        </p:nvSpPr>
        <p:spPr>
          <a:xfrm>
            <a:off x="1028700" y="6173167"/>
            <a:ext cx="51816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1028700" y="4152826"/>
            <a:ext cx="5181600" cy="57150"/>
          </a:xfrm>
          <a:prstGeom prst="rect">
            <a:avLst/>
          </a:prstGeom>
          <a:solidFill>
            <a:srgbClr val="D81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1028700" y="4152826"/>
            <a:ext cx="9525" cy="202986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1"/>
          <p:cNvSpPr/>
          <p:nvPr/>
        </p:nvSpPr>
        <p:spPr>
          <a:xfrm>
            <a:off x="6200775" y="4152826"/>
            <a:ext cx="9525" cy="202986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1419225" y="4590976"/>
            <a:ext cx="4840605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Global configuration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1419225" y="5074072"/>
            <a:ext cx="453256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Enforce across all requests, site-wide.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6553200" y="4152826"/>
            <a:ext cx="5181600" cy="2029867"/>
          </a:xfrm>
          <a:prstGeom prst="roundRect">
            <a:avLst>
              <a:gd fmla="val 750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6553200" y="6173167"/>
            <a:ext cx="51816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6553200" y="4152826"/>
            <a:ext cx="5181600" cy="57150"/>
          </a:xfrm>
          <a:prstGeom prst="rect">
            <a:avLst/>
          </a:prstGeom>
          <a:solidFill>
            <a:srgbClr val="00B6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6553200" y="4152826"/>
            <a:ext cx="9525" cy="202986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11725275" y="4152826"/>
            <a:ext cx="9525" cy="202986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6943725" y="4590976"/>
            <a:ext cx="4840605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Streaming enforcement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6943725" y="5074072"/>
            <a:ext cx="453256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Applied to real-time responses as they flow.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1"/>
          <p:cNvSpPr/>
          <p:nvPr/>
        </p:nvSpPr>
        <p:spPr>
          <a:xfrm>
            <a:off x="12077700" y="4152826"/>
            <a:ext cx="5181600" cy="2029867"/>
          </a:xfrm>
          <a:prstGeom prst="roundRect">
            <a:avLst>
              <a:gd fmla="val 750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12077700" y="6173167"/>
            <a:ext cx="51816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12077700" y="4152826"/>
            <a:ext cx="5181600" cy="57150"/>
          </a:xfrm>
          <a:prstGeom prst="rect">
            <a:avLst/>
          </a:prstGeom>
          <a:solidFill>
            <a:srgbClr val="1FBD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12077700" y="4152826"/>
            <a:ext cx="9525" cy="202986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1"/>
          <p:cNvSpPr/>
          <p:nvPr/>
        </p:nvSpPr>
        <p:spPr>
          <a:xfrm>
            <a:off x="17249775" y="4152826"/>
            <a:ext cx="9525" cy="202986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1"/>
          <p:cNvSpPr/>
          <p:nvPr/>
        </p:nvSpPr>
        <p:spPr>
          <a:xfrm>
            <a:off x="12468225" y="4590976"/>
            <a:ext cx="4840605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Input length limits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1"/>
          <p:cNvSpPr/>
          <p:nvPr/>
        </p:nvSpPr>
        <p:spPr>
          <a:xfrm>
            <a:off x="12468225" y="5074072"/>
            <a:ext cx="453256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Cap oversized prompts before they cost you.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1"/>
          <p:cNvSpPr/>
          <p:nvPr/>
        </p:nvSpPr>
        <p:spPr>
          <a:xfrm>
            <a:off x="217170" y="6601792"/>
            <a:ext cx="1785366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Production-hardened for large, public-facing deployments.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5" name="Google Shape;4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0" name="Google Shape;4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2"/>
          <p:cNvSpPr/>
          <p:nvPr/>
        </p:nvSpPr>
        <p:spPr>
          <a:xfrm>
            <a:off x="1028700" y="2707481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C0E4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C0E4"/>
                </a:solidFill>
                <a:latin typeface="Arial"/>
                <a:ea typeface="Arial"/>
                <a:cs typeface="Arial"/>
                <a:sym typeface="Arial"/>
              </a:rPr>
              <a:t>SEEING IS BELIEVING · LIVE ON A REAL SITE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/>
          <p:nvPr/>
        </p:nvSpPr>
        <p:spPr>
          <a:xfrm>
            <a:off x="1028700" y="3474244"/>
            <a:ext cx="1785366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0"/>
              <a:buFont typeface="Arial"/>
              <a:buNone/>
            </a:pPr>
            <a:r>
              <a:rPr b="1" i="0" lang="en-US" sz="1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</a:t>
            </a:r>
            <a:r>
              <a:rPr b="1" i="0" lang="en-US" sz="16800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 demos</a:t>
            </a:r>
            <a:endParaRPr b="0" i="0" sz="1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1028700" y="6731794"/>
            <a:ext cx="2778666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AI Context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3726210" y="6731794"/>
            <a:ext cx="27057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C0E4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2BC0E4"/>
                </a:solidFill>
                <a:latin typeface="Courier New"/>
                <a:ea typeface="Courier New"/>
                <a:cs typeface="Courier New"/>
                <a:sym typeface="Courier New"/>
              </a:rPr>
              <a:t>·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4092029" y="6731794"/>
            <a:ext cx="213741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Canvas AI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6206579" y="6731794"/>
            <a:ext cx="27057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C0E4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2BC0E4"/>
                </a:solidFill>
                <a:latin typeface="Courier New"/>
                <a:ea typeface="Courier New"/>
                <a:cs typeface="Courier New"/>
                <a:sym typeface="Courier New"/>
              </a:rPr>
              <a:t>·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6572399" y="6731794"/>
            <a:ext cx="213741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Courier New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What’s new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8" name="Google Shape;43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699" y="9227175"/>
            <a:ext cx="1535000" cy="707696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2"/>
          <p:cNvSpPr/>
          <p:nvPr/>
        </p:nvSpPr>
        <p:spPr>
          <a:xfrm>
            <a:off x="1083850" y="7769803"/>
            <a:ext cx="140568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Arial"/>
              <a:buNone/>
            </a:pPr>
            <a:r>
              <a:rPr lang="en-US" sz="3000">
                <a:solidFill>
                  <a:srgbClr val="FFFFFF"/>
                </a:solidFill>
              </a:rPr>
              <a:t>repo: </a:t>
            </a:r>
            <a:r>
              <a:rPr b="1" lang="en-US" sz="3000">
                <a:solidFill>
                  <a:srgbClr val="FFFFFF"/>
                </a:solidFill>
              </a:rPr>
              <a:t>https://github.com/dan2k3k4/whats-new-drupal-ai-july-2026</a:t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3"/>
          <p:cNvSpPr/>
          <p:nvPr/>
        </p:nvSpPr>
        <p:spPr>
          <a:xfrm>
            <a:off x="1028700" y="1772245"/>
            <a:ext cx="859155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LIVE DEMO · 01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3"/>
          <p:cNvSpPr/>
          <p:nvPr/>
        </p:nvSpPr>
        <p:spPr>
          <a:xfrm>
            <a:off x="1028700" y="2443758"/>
            <a:ext cx="8044815" cy="1592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Context Control Center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1028700" y="4379119"/>
            <a:ext cx="8044800" cy="12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Brand voice, rules and governance</a:t>
            </a:r>
            <a:r>
              <a:rPr lang="en-US" sz="3300">
                <a:solidFill>
                  <a:srgbClr val="3D3D3D"/>
                </a:solidFill>
              </a:rPr>
              <a:t>,</a:t>
            </a:r>
            <a:r>
              <a:rPr b="0" i="0" lang="en-US" sz="33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 defined once, steering all AI output.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3"/>
          <p:cNvSpPr/>
          <p:nvPr/>
        </p:nvSpPr>
        <p:spPr>
          <a:xfrm>
            <a:off x="1028700" y="6123980"/>
            <a:ext cx="7810500" cy="676200"/>
          </a:xfrm>
          <a:prstGeom prst="roundRect">
            <a:avLst>
              <a:gd fmla="val 50000" name="adj"/>
            </a:avLst>
          </a:prstGeom>
          <a:solidFill>
            <a:srgbClr val="CD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3"/>
          <p:cNvSpPr/>
          <p:nvPr/>
        </p:nvSpPr>
        <p:spPr>
          <a:xfrm>
            <a:off x="1295400" y="6276380"/>
            <a:ext cx="75114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93C4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93C4"/>
                </a:solidFill>
                <a:latin typeface="Arial"/>
                <a:ea typeface="Arial"/>
                <a:cs typeface="Arial"/>
                <a:sym typeface="Arial"/>
              </a:rPr>
              <a:t>Brand voice &amp; audience, machine-readable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1028700" y="6952655"/>
            <a:ext cx="7810500" cy="676200"/>
          </a:xfrm>
          <a:prstGeom prst="roundRect">
            <a:avLst>
              <a:gd fmla="val 50000" name="adj"/>
            </a:avLst>
          </a:prstGeom>
          <a:solidFill>
            <a:srgbClr val="CD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1295400" y="7105055"/>
            <a:ext cx="75114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93C4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93C4"/>
                </a:solidFill>
                <a:latin typeface="Arial"/>
                <a:ea typeface="Arial"/>
                <a:cs typeface="Arial"/>
                <a:sym typeface="Arial"/>
              </a:rPr>
              <a:t>Rules the AI must follow</a:t>
            </a:r>
            <a:r>
              <a:rPr b="1" lang="en-US" sz="1950">
                <a:solidFill>
                  <a:srgbClr val="0093C4"/>
                </a:solidFill>
              </a:rPr>
              <a:t>,</a:t>
            </a:r>
            <a:r>
              <a:rPr b="1" i="0" lang="en-US" sz="1950" u="none" cap="none" strike="noStrike">
                <a:solidFill>
                  <a:srgbClr val="0093C4"/>
                </a:solidFill>
                <a:latin typeface="Arial"/>
                <a:ea typeface="Arial"/>
                <a:cs typeface="Arial"/>
                <a:sym typeface="Arial"/>
              </a:rPr>
              <a:t> reused everywhere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1028700" y="7781330"/>
            <a:ext cx="7810500" cy="676200"/>
          </a:xfrm>
          <a:prstGeom prst="roundRect">
            <a:avLst>
              <a:gd fmla="val 50000" name="adj"/>
            </a:avLst>
          </a:prstGeom>
          <a:solidFill>
            <a:srgbClr val="FD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3"/>
          <p:cNvSpPr/>
          <p:nvPr/>
        </p:nvSpPr>
        <p:spPr>
          <a:xfrm>
            <a:off x="1295400" y="7933730"/>
            <a:ext cx="75114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B00E49"/>
                </a:solidFill>
                <a:latin typeface="Arial"/>
                <a:ea typeface="Arial"/>
                <a:cs typeface="Arial"/>
                <a:sym typeface="Arial"/>
              </a:rPr>
              <a:t>Watch for: the same prompt, before vs after context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3"/>
          <p:cNvSpPr/>
          <p:nvPr/>
        </p:nvSpPr>
        <p:spPr>
          <a:xfrm>
            <a:off x="9448800" y="2581275"/>
            <a:ext cx="7810500" cy="4762500"/>
          </a:xfrm>
          <a:prstGeom prst="roundRect">
            <a:avLst>
              <a:gd fmla="val 3600" name="adj"/>
            </a:avLst>
          </a:prstGeom>
          <a:solidFill>
            <a:srgbClr val="FDEDF2"/>
          </a:solidFill>
          <a:ln cap="flat" cmpd="sng" w="28575">
            <a:solidFill>
              <a:srgbClr val="F07CA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3"/>
          <p:cNvSpPr/>
          <p:nvPr/>
        </p:nvSpPr>
        <p:spPr>
          <a:xfrm>
            <a:off x="11702861" y="4255889"/>
            <a:ext cx="3302377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3C7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63C74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3"/>
          <p:cNvSpPr/>
          <p:nvPr/>
        </p:nvSpPr>
        <p:spPr>
          <a:xfrm>
            <a:off x="11234928" y="4709220"/>
            <a:ext cx="4238244" cy="9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00E49"/>
                </a:solidFill>
                <a:latin typeface="Courier New"/>
                <a:ea typeface="Courier New"/>
                <a:cs typeface="Courier New"/>
                <a:sym typeface="Courier New"/>
              </a:rPr>
              <a:t>ai_context in action </a:t>
            </a:r>
            <a:r>
              <a:rPr lang="en-US" sz="1800">
                <a:solidFill>
                  <a:srgbClr val="B00E49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0" i="0" lang="en-US" sz="1800" u="none" cap="none" strike="noStrike">
                <a:solidFill>
                  <a:srgbClr val="B00E49"/>
                </a:solidFill>
                <a:latin typeface="Courier New"/>
                <a:ea typeface="Courier New"/>
                <a:cs typeface="Courier New"/>
                <a:sym typeface="Courier New"/>
              </a:rPr>
              <a:t> context entities steering real AI output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6" name="Google Shape;4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4"/>
          <p:cNvSpPr/>
          <p:nvPr/>
        </p:nvSpPr>
        <p:spPr>
          <a:xfrm>
            <a:off x="1028700" y="1772245"/>
            <a:ext cx="859155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LIVE DEMO · 02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1028700" y="2443758"/>
            <a:ext cx="8044815" cy="1592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Canvas AI</a:t>
            </a:r>
            <a:r>
              <a:rPr b="1" lang="en-US" sz="6000">
                <a:solidFill>
                  <a:srgbClr val="202020"/>
                </a:solidFill>
              </a:rPr>
              <a:t>: </a:t>
            </a: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pages from a prompt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4"/>
          <p:cNvSpPr/>
          <p:nvPr/>
        </p:nvSpPr>
        <p:spPr>
          <a:xfrm>
            <a:off x="1028700" y="4379119"/>
            <a:ext cx="8044800" cy="12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Drupal </a:t>
            </a:r>
            <a:r>
              <a:rPr lang="en-US" sz="3300">
                <a:solidFill>
                  <a:srgbClr val="3D3D3D"/>
                </a:solidFill>
              </a:rPr>
              <a:t>Canvas’</a:t>
            </a:r>
            <a:r>
              <a:rPr b="0" i="0" lang="en-US" sz="33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 assistant builds real pages from plain-language prompts.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1028700" y="6123980"/>
            <a:ext cx="7810500" cy="676200"/>
          </a:xfrm>
          <a:prstGeom prst="roundRect">
            <a:avLst>
              <a:gd fmla="val 50000" name="adj"/>
            </a:avLst>
          </a:prstGeom>
          <a:solidFill>
            <a:srgbClr val="CD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4"/>
          <p:cNvSpPr/>
          <p:nvPr/>
        </p:nvSpPr>
        <p:spPr>
          <a:xfrm>
            <a:off x="1295400" y="6276380"/>
            <a:ext cx="75114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93C4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93C4"/>
                </a:solidFill>
                <a:latin typeface="Arial"/>
                <a:ea typeface="Arial"/>
                <a:cs typeface="Arial"/>
                <a:sym typeface="Arial"/>
              </a:rPr>
              <a:t>"Build a homepage: hero, features, CTA"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1028700" y="6952655"/>
            <a:ext cx="7810500" cy="676200"/>
          </a:xfrm>
          <a:prstGeom prst="roundRect">
            <a:avLst>
              <a:gd fmla="val 50000" name="adj"/>
            </a:avLst>
          </a:prstGeom>
          <a:solidFill>
            <a:srgbClr val="CD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1295400" y="7105055"/>
            <a:ext cx="75114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93C4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93C4"/>
                </a:solidFill>
                <a:latin typeface="Arial"/>
                <a:ea typeface="Arial"/>
                <a:cs typeface="Arial"/>
                <a:sym typeface="Arial"/>
              </a:rPr>
              <a:t>Uses your approved components</a:t>
            </a:r>
            <a:r>
              <a:rPr b="1" lang="en-US" sz="1950">
                <a:solidFill>
                  <a:srgbClr val="0093C4"/>
                </a:solidFill>
              </a:rPr>
              <a:t>,</a:t>
            </a:r>
            <a:r>
              <a:rPr b="1" i="0" lang="en-US" sz="1950" u="none" cap="none" strike="noStrike">
                <a:solidFill>
                  <a:srgbClr val="0093C4"/>
                </a:solidFill>
                <a:latin typeface="Arial"/>
                <a:ea typeface="Arial"/>
                <a:cs typeface="Arial"/>
                <a:sym typeface="Arial"/>
              </a:rPr>
              <a:t> not its imagination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4"/>
          <p:cNvSpPr/>
          <p:nvPr/>
        </p:nvSpPr>
        <p:spPr>
          <a:xfrm>
            <a:off x="1028700" y="7781330"/>
            <a:ext cx="7810500" cy="676200"/>
          </a:xfrm>
          <a:prstGeom prst="roundRect">
            <a:avLst>
              <a:gd fmla="val 50000" name="adj"/>
            </a:avLst>
          </a:prstGeom>
          <a:solidFill>
            <a:srgbClr val="FD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4"/>
          <p:cNvSpPr/>
          <p:nvPr/>
        </p:nvSpPr>
        <p:spPr>
          <a:xfrm>
            <a:off x="1295400" y="7933730"/>
            <a:ext cx="75114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B00E49"/>
                </a:solidFill>
                <a:latin typeface="Arial"/>
                <a:ea typeface="Arial"/>
                <a:cs typeface="Arial"/>
                <a:sym typeface="Arial"/>
              </a:rPr>
              <a:t>Watch for: generating a brand-new component, live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4"/>
          <p:cNvSpPr/>
          <p:nvPr/>
        </p:nvSpPr>
        <p:spPr>
          <a:xfrm>
            <a:off x="9448800" y="2581275"/>
            <a:ext cx="7810500" cy="4762500"/>
          </a:xfrm>
          <a:prstGeom prst="roundRect">
            <a:avLst>
              <a:gd fmla="val 3600" name="adj"/>
            </a:avLst>
          </a:prstGeom>
          <a:solidFill>
            <a:srgbClr val="FDEDF2"/>
          </a:solidFill>
          <a:ln cap="flat" cmpd="sng" w="28575">
            <a:solidFill>
              <a:srgbClr val="F07CA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4"/>
          <p:cNvSpPr/>
          <p:nvPr/>
        </p:nvSpPr>
        <p:spPr>
          <a:xfrm>
            <a:off x="11702861" y="4255889"/>
            <a:ext cx="3302377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3C7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63C74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4"/>
          <p:cNvSpPr/>
          <p:nvPr/>
        </p:nvSpPr>
        <p:spPr>
          <a:xfrm>
            <a:off x="11234928" y="4709220"/>
            <a:ext cx="4238244" cy="9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00E49"/>
                </a:solidFill>
                <a:latin typeface="Courier New"/>
                <a:ea typeface="Courier New"/>
                <a:cs typeface="Courier New"/>
                <a:sym typeface="Courier New"/>
              </a:rPr>
              <a:t>canvas_ai </a:t>
            </a:r>
            <a:r>
              <a:rPr lang="en-US" sz="1800">
                <a:solidFill>
                  <a:srgbClr val="B00E49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0" i="0" lang="en-US" sz="1800" u="none" cap="none" strike="noStrike">
                <a:solidFill>
                  <a:srgbClr val="B00E49"/>
                </a:solidFill>
                <a:latin typeface="Courier New"/>
                <a:ea typeface="Courier New"/>
                <a:cs typeface="Courier New"/>
                <a:sym typeface="Courier New"/>
              </a:rPr>
              <a:t> the page builder in Drupal CMS 2, powered by AI Agents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3" name="Google Shape;4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5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DON’T MISS THIS ONE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5"/>
          <p:cNvSpPr/>
          <p:nvPr/>
        </p:nvSpPr>
        <p:spPr>
          <a:xfrm>
            <a:off x="1028700" y="1700213"/>
            <a:ext cx="17853660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Point your coding agents at </a:t>
            </a:r>
            <a:r>
              <a:rPr b="1" i="1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AI Best Practices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5"/>
          <p:cNvSpPr/>
          <p:nvPr/>
        </p:nvSpPr>
        <p:spPr>
          <a:xfrm>
            <a:off x="1028700" y="3411215"/>
            <a:ext cx="7962900" cy="1623194"/>
          </a:xfrm>
          <a:prstGeom prst="roundRect">
            <a:avLst>
              <a:gd fmla="val 938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5"/>
          <p:cNvSpPr/>
          <p:nvPr/>
        </p:nvSpPr>
        <p:spPr>
          <a:xfrm>
            <a:off x="1419225" y="3801740"/>
            <a:ext cx="7900035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AI Best Practices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5"/>
          <p:cNvSpPr/>
          <p:nvPr/>
        </p:nvSpPr>
        <p:spPr>
          <a:xfrm>
            <a:off x="1419225" y="4284825"/>
            <a:ext cx="7414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Canonical Drupal guidance</a:t>
            </a:r>
            <a:r>
              <a:rPr lang="en-US" sz="1950">
                <a:solidFill>
                  <a:srgbClr val="6B6B6B"/>
                </a:solidFill>
              </a:rPr>
              <a:t>,</a:t>
            </a: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conventions, not guesses.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5"/>
          <p:cNvSpPr/>
          <p:nvPr/>
        </p:nvSpPr>
        <p:spPr>
          <a:xfrm>
            <a:off x="9296400" y="3411215"/>
            <a:ext cx="7962900" cy="1623194"/>
          </a:xfrm>
          <a:prstGeom prst="roundRect">
            <a:avLst>
              <a:gd fmla="val 938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5"/>
          <p:cNvSpPr/>
          <p:nvPr/>
        </p:nvSpPr>
        <p:spPr>
          <a:xfrm>
            <a:off x="9686925" y="3801740"/>
            <a:ext cx="7900035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Tool API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5"/>
          <p:cNvSpPr/>
          <p:nvPr/>
        </p:nvSpPr>
        <p:spPr>
          <a:xfrm>
            <a:off x="9686925" y="4284836"/>
            <a:ext cx="7900035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Write once, use from CLI, MCP, ECA &amp; AI</a:t>
            </a:r>
            <a:r>
              <a:rPr lang="en-US" sz="1950">
                <a:solidFill>
                  <a:srgbClr val="6B6B6B"/>
                </a:solidFill>
              </a:rPr>
              <a:t> →</a:t>
            </a: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required in 2.0.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5"/>
          <p:cNvSpPr/>
          <p:nvPr/>
        </p:nvSpPr>
        <p:spPr>
          <a:xfrm>
            <a:off x="1028700" y="5339209"/>
            <a:ext cx="7962900" cy="1623194"/>
          </a:xfrm>
          <a:prstGeom prst="roundRect">
            <a:avLst>
              <a:gd fmla="val 938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5"/>
          <p:cNvSpPr/>
          <p:nvPr/>
        </p:nvSpPr>
        <p:spPr>
          <a:xfrm>
            <a:off x="1419225" y="5729734"/>
            <a:ext cx="7900035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5"/>
          <p:cNvSpPr/>
          <p:nvPr/>
        </p:nvSpPr>
        <p:spPr>
          <a:xfrm>
            <a:off x="1419225" y="6212830"/>
            <a:ext cx="7900035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Expose Drupal capabilities via Model Context Protocol.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5"/>
          <p:cNvSpPr/>
          <p:nvPr/>
        </p:nvSpPr>
        <p:spPr>
          <a:xfrm>
            <a:off x="9296400" y="5339209"/>
            <a:ext cx="7962900" cy="1623194"/>
          </a:xfrm>
          <a:prstGeom prst="roundRect">
            <a:avLst>
              <a:gd fmla="val 938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5"/>
          <p:cNvSpPr/>
          <p:nvPr/>
        </p:nvSpPr>
        <p:spPr>
          <a:xfrm>
            <a:off x="9686925" y="5729734"/>
            <a:ext cx="7900035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Orchestration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5"/>
          <p:cNvSpPr/>
          <p:nvPr/>
        </p:nvSpPr>
        <p:spPr>
          <a:xfrm>
            <a:off x="9686925" y="6212830"/>
            <a:ext cx="7900035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Connect Drupal to external platforms and CRMs.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5"/>
          <p:cNvSpPr/>
          <p:nvPr/>
        </p:nvSpPr>
        <p:spPr>
          <a:xfrm>
            <a:off x="217170" y="7343403"/>
            <a:ext cx="1785366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Install it once — every AI-assisted line of code gets better.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4" name="Google Shape;49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6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PROVIDER-AGNOSTIC IN PRACTICE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6"/>
          <p:cNvSpPr/>
          <p:nvPr/>
        </p:nvSpPr>
        <p:spPr>
          <a:xfrm>
            <a:off x="1028700" y="1700225"/>
            <a:ext cx="167355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The provider landscape</a:t>
            </a:r>
            <a:r>
              <a:rPr b="1" lang="en-US" sz="6000">
                <a:solidFill>
                  <a:srgbClr val="202020"/>
                </a:solidFill>
              </a:rPr>
              <a:t>:</a:t>
            </a: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 48+ and counting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2196926" y="4172396"/>
            <a:ext cx="1740545" cy="838200"/>
          </a:xfrm>
          <a:prstGeom prst="roundRect">
            <a:avLst>
              <a:gd fmla="val 50000" name="adj"/>
            </a:avLst>
          </a:prstGeom>
          <a:solidFill>
            <a:srgbClr val="FD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2343275" y="4362900"/>
            <a:ext cx="1499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B00E49"/>
                </a:solidFill>
                <a:latin typeface="Arial"/>
                <a:ea typeface="Arial"/>
                <a:cs typeface="Arial"/>
                <a:sym typeface="Arial"/>
              </a:rPr>
              <a:t>amazee.ai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4127971" y="4172396"/>
            <a:ext cx="1959694" cy="838200"/>
          </a:xfrm>
          <a:prstGeom prst="roundRect">
            <a:avLst>
              <a:gd fmla="val 50000" name="adj"/>
            </a:avLst>
          </a:prstGeom>
          <a:noFill/>
          <a:ln cap="flat" cmpd="sng" w="142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6"/>
          <p:cNvSpPr/>
          <p:nvPr/>
        </p:nvSpPr>
        <p:spPr>
          <a:xfrm>
            <a:off x="4351799" y="4377175"/>
            <a:ext cx="14991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Anthropic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6278166" y="4172396"/>
            <a:ext cx="2520479" cy="838200"/>
          </a:xfrm>
          <a:prstGeom prst="roundRect">
            <a:avLst>
              <a:gd fmla="val 50000" name="adj"/>
            </a:avLst>
          </a:prstGeom>
          <a:noFill/>
          <a:ln cap="flat" cmpd="sng" w="142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6"/>
          <p:cNvSpPr/>
          <p:nvPr/>
        </p:nvSpPr>
        <p:spPr>
          <a:xfrm>
            <a:off x="6531386" y="4377175"/>
            <a:ext cx="21015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AWS Bedrock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6"/>
          <p:cNvSpPr/>
          <p:nvPr/>
        </p:nvSpPr>
        <p:spPr>
          <a:xfrm>
            <a:off x="8989144" y="4172396"/>
            <a:ext cx="1498997" cy="838200"/>
          </a:xfrm>
          <a:prstGeom prst="roundRect">
            <a:avLst>
              <a:gd fmla="val 50000" name="adj"/>
            </a:avLst>
          </a:prstGeom>
          <a:noFill/>
          <a:ln cap="flat" cmpd="sng" w="142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6"/>
          <p:cNvSpPr/>
          <p:nvPr/>
        </p:nvSpPr>
        <p:spPr>
          <a:xfrm>
            <a:off x="9142874" y="4377175"/>
            <a:ext cx="10452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Azure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6"/>
          <p:cNvSpPr/>
          <p:nvPr/>
        </p:nvSpPr>
        <p:spPr>
          <a:xfrm>
            <a:off x="10678641" y="4172396"/>
            <a:ext cx="2658442" cy="838200"/>
          </a:xfrm>
          <a:prstGeom prst="roundRect">
            <a:avLst>
              <a:gd fmla="val 50000" name="adj"/>
            </a:avLst>
          </a:prstGeom>
          <a:noFill/>
          <a:ln cap="flat" cmpd="sng" w="142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6"/>
          <p:cNvSpPr/>
          <p:nvPr/>
        </p:nvSpPr>
        <p:spPr>
          <a:xfrm>
            <a:off x="10939175" y="4377175"/>
            <a:ext cx="21015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Google Gemini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6"/>
          <p:cNvSpPr/>
          <p:nvPr/>
        </p:nvSpPr>
        <p:spPr>
          <a:xfrm>
            <a:off x="13527584" y="4172396"/>
            <a:ext cx="2563416" cy="838200"/>
          </a:xfrm>
          <a:prstGeom prst="roundRect">
            <a:avLst>
              <a:gd fmla="val 50000" name="adj"/>
            </a:avLst>
          </a:prstGeom>
          <a:noFill/>
          <a:ln cap="flat" cmpd="sng" w="142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6"/>
          <p:cNvSpPr/>
          <p:nvPr/>
        </p:nvSpPr>
        <p:spPr>
          <a:xfrm>
            <a:off x="13903825" y="4377175"/>
            <a:ext cx="21015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Google Vertex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6"/>
          <p:cNvSpPr/>
          <p:nvPr/>
        </p:nvSpPr>
        <p:spPr>
          <a:xfrm>
            <a:off x="5817691" y="5201096"/>
            <a:ext cx="2531641" cy="838200"/>
          </a:xfrm>
          <a:prstGeom prst="roundRect">
            <a:avLst>
              <a:gd fmla="val 50000" name="adj"/>
            </a:avLst>
          </a:prstGeom>
          <a:noFill/>
          <a:ln cap="flat" cmpd="sng" w="142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6"/>
          <p:cNvSpPr/>
          <p:nvPr/>
        </p:nvSpPr>
        <p:spPr>
          <a:xfrm>
            <a:off x="6193925" y="5405875"/>
            <a:ext cx="20184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Hugging Face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6"/>
          <p:cNvSpPr/>
          <p:nvPr/>
        </p:nvSpPr>
        <p:spPr>
          <a:xfrm>
            <a:off x="8539832" y="5201096"/>
            <a:ext cx="1721495" cy="838200"/>
          </a:xfrm>
          <a:prstGeom prst="roundRect">
            <a:avLst>
              <a:gd fmla="val 50000" name="adj"/>
            </a:avLst>
          </a:prstGeom>
          <a:noFill/>
          <a:ln cap="flat" cmpd="sng" w="142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6"/>
          <p:cNvSpPr/>
          <p:nvPr/>
        </p:nvSpPr>
        <p:spPr>
          <a:xfrm>
            <a:off x="8798652" y="5405875"/>
            <a:ext cx="1162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OpenAI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6"/>
          <p:cNvSpPr/>
          <p:nvPr/>
        </p:nvSpPr>
        <p:spPr>
          <a:xfrm>
            <a:off x="10451827" y="5201096"/>
            <a:ext cx="2018481" cy="838200"/>
          </a:xfrm>
          <a:prstGeom prst="roundRect">
            <a:avLst>
              <a:gd fmla="val 50000" name="adj"/>
            </a:avLst>
          </a:prstGeom>
          <a:solidFill>
            <a:srgbClr val="CD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6"/>
          <p:cNvSpPr/>
          <p:nvPr/>
        </p:nvSpPr>
        <p:spPr>
          <a:xfrm>
            <a:off x="10721515" y="5391600"/>
            <a:ext cx="1535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93C4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93C4"/>
                </a:solidFill>
                <a:latin typeface="Arial"/>
                <a:ea typeface="Arial"/>
                <a:cs typeface="Arial"/>
                <a:sym typeface="Arial"/>
              </a:rPr>
              <a:t>+ 40 more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6"/>
          <p:cNvSpPr/>
          <p:nvPr/>
        </p:nvSpPr>
        <p:spPr>
          <a:xfrm>
            <a:off x="217170" y="6534596"/>
            <a:ext cx="178536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Swap models without rewriting a line of integration code.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1" name="Google Shape;5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7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WORTH ADOPTING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7"/>
          <p:cNvSpPr/>
          <p:nvPr/>
        </p:nvSpPr>
        <p:spPr>
          <a:xfrm>
            <a:off x="1028700" y="1700213"/>
            <a:ext cx="17853660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Spotlight modules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7"/>
          <p:cNvSpPr/>
          <p:nvPr/>
        </p:nvSpPr>
        <p:spPr>
          <a:xfrm>
            <a:off x="1028700" y="3571280"/>
            <a:ext cx="5232350" cy="1982242"/>
          </a:xfrm>
          <a:prstGeom prst="roundRect">
            <a:avLst>
              <a:gd fmla="val 76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7"/>
          <p:cNvSpPr/>
          <p:nvPr/>
        </p:nvSpPr>
        <p:spPr>
          <a:xfrm>
            <a:off x="1419225" y="3961805"/>
            <a:ext cx="4896430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AI Agents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7"/>
          <p:cNvSpPr/>
          <p:nvPr/>
        </p:nvSpPr>
        <p:spPr>
          <a:xfrm>
            <a:off x="1419225" y="4444901"/>
            <a:ext cx="458483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UI-configured agents</a:t>
            </a:r>
            <a:r>
              <a:rPr lang="en-US" sz="1950">
                <a:solidFill>
                  <a:srgbClr val="6B6B6B"/>
                </a:solidFill>
              </a:rPr>
              <a:t>:</a:t>
            </a: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moving into Core at 2.0.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7"/>
          <p:cNvSpPr/>
          <p:nvPr/>
        </p:nvSpPr>
        <p:spPr>
          <a:xfrm>
            <a:off x="6527750" y="3571280"/>
            <a:ext cx="5232425" cy="1982242"/>
          </a:xfrm>
          <a:prstGeom prst="roundRect">
            <a:avLst>
              <a:gd fmla="val 76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7"/>
          <p:cNvSpPr/>
          <p:nvPr/>
        </p:nvSpPr>
        <p:spPr>
          <a:xfrm>
            <a:off x="6918275" y="3961805"/>
            <a:ext cx="4896512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AI Dashboard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7"/>
          <p:cNvSpPr/>
          <p:nvPr/>
        </p:nvSpPr>
        <p:spPr>
          <a:xfrm>
            <a:off x="6918275" y="4444901"/>
            <a:ext cx="4584916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The admin hub, with ready-made recipes.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7"/>
          <p:cNvSpPr/>
          <p:nvPr/>
        </p:nvSpPr>
        <p:spPr>
          <a:xfrm>
            <a:off x="12026875" y="3571280"/>
            <a:ext cx="5232350" cy="1982242"/>
          </a:xfrm>
          <a:prstGeom prst="roundRect">
            <a:avLst>
              <a:gd fmla="val 76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7"/>
          <p:cNvSpPr/>
          <p:nvPr/>
        </p:nvSpPr>
        <p:spPr>
          <a:xfrm>
            <a:off x="12417400" y="3961805"/>
            <a:ext cx="4896430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AI Search Block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7"/>
          <p:cNvSpPr/>
          <p:nvPr/>
        </p:nvSpPr>
        <p:spPr>
          <a:xfrm>
            <a:off x="12417400" y="4444901"/>
            <a:ext cx="458483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Chat-style, grounded search on any site.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7"/>
          <p:cNvSpPr/>
          <p:nvPr/>
        </p:nvSpPr>
        <p:spPr>
          <a:xfrm>
            <a:off x="1028700" y="5820221"/>
            <a:ext cx="5232350" cy="1982242"/>
          </a:xfrm>
          <a:prstGeom prst="roundRect">
            <a:avLst>
              <a:gd fmla="val 76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7"/>
          <p:cNvSpPr/>
          <p:nvPr/>
        </p:nvSpPr>
        <p:spPr>
          <a:xfrm>
            <a:off x="1419225" y="6210746"/>
            <a:ext cx="4896430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Flowdrop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7"/>
          <p:cNvSpPr/>
          <p:nvPr/>
        </p:nvSpPr>
        <p:spPr>
          <a:xfrm>
            <a:off x="1419225" y="6693843"/>
            <a:ext cx="4896430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Visual workflow orchestration.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7"/>
          <p:cNvSpPr/>
          <p:nvPr/>
        </p:nvSpPr>
        <p:spPr>
          <a:xfrm>
            <a:off x="6527750" y="5820221"/>
            <a:ext cx="5232425" cy="1982242"/>
          </a:xfrm>
          <a:prstGeom prst="roundRect">
            <a:avLst>
              <a:gd fmla="val 76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7"/>
          <p:cNvSpPr/>
          <p:nvPr/>
        </p:nvSpPr>
        <p:spPr>
          <a:xfrm>
            <a:off x="6918275" y="6210746"/>
            <a:ext cx="4896512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Context Control Center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7"/>
          <p:cNvSpPr/>
          <p:nvPr/>
        </p:nvSpPr>
        <p:spPr>
          <a:xfrm>
            <a:off x="6918275" y="6693843"/>
            <a:ext cx="4584916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Site context: brand voice, rules, governance.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7"/>
          <p:cNvSpPr/>
          <p:nvPr/>
        </p:nvSpPr>
        <p:spPr>
          <a:xfrm>
            <a:off x="12026875" y="5820221"/>
            <a:ext cx="5232350" cy="1982242"/>
          </a:xfrm>
          <a:prstGeom prst="roundRect">
            <a:avLst>
              <a:gd fmla="val 7688" name="adj"/>
            </a:avLst>
          </a:prstGeom>
          <a:solidFill>
            <a:srgbClr val="FD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7"/>
          <p:cNvSpPr/>
          <p:nvPr/>
        </p:nvSpPr>
        <p:spPr>
          <a:xfrm>
            <a:off x="12417400" y="6210746"/>
            <a:ext cx="4896430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B00E49"/>
                </a:solidFill>
                <a:latin typeface="Arial"/>
                <a:ea typeface="Arial"/>
                <a:cs typeface="Arial"/>
                <a:sym typeface="Arial"/>
              </a:rPr>
              <a:t>…and growing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7"/>
          <p:cNvSpPr/>
          <p:nvPr/>
        </p:nvSpPr>
        <p:spPr>
          <a:xfrm>
            <a:off x="12417400" y="6693843"/>
            <a:ext cx="4896430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B00E49"/>
                </a:solidFill>
                <a:latin typeface="Arial"/>
                <a:ea typeface="Arial"/>
                <a:cs typeface="Arial"/>
                <a:sym typeface="Arial"/>
              </a:rPr>
              <a:t>New spotlights land every cycle.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7" name="Google Shape;54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8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PROOF IT WORKS · FOR THE BUSINESS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8"/>
          <p:cNvSpPr/>
          <p:nvPr/>
        </p:nvSpPr>
        <p:spPr>
          <a:xfrm>
            <a:off x="1028700" y="1700213"/>
            <a:ext cx="17853660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Real-world stories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8"/>
          <p:cNvSpPr/>
          <p:nvPr/>
        </p:nvSpPr>
        <p:spPr>
          <a:xfrm>
            <a:off x="1028700" y="2964359"/>
            <a:ext cx="5232350" cy="2589163"/>
          </a:xfrm>
          <a:prstGeom prst="roundRect">
            <a:avLst>
              <a:gd fmla="val 5886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8"/>
          <p:cNvSpPr/>
          <p:nvPr/>
        </p:nvSpPr>
        <p:spPr>
          <a:xfrm>
            <a:off x="1419225" y="3354884"/>
            <a:ext cx="489643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C74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3C74"/>
                </a:solidFill>
                <a:latin typeface="Arial"/>
                <a:ea typeface="Arial"/>
                <a:cs typeface="Arial"/>
                <a:sym typeface="Arial"/>
              </a:rPr>
              <a:t>Live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8"/>
          <p:cNvSpPr/>
          <p:nvPr/>
        </p:nvSpPr>
        <p:spPr>
          <a:xfrm>
            <a:off x="1419225" y="4078784"/>
            <a:ext cx="4896430" cy="3260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World Cancer Day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8"/>
          <p:cNvSpPr/>
          <p:nvPr/>
        </p:nvSpPr>
        <p:spPr>
          <a:xfrm>
            <a:off x="1419225" y="4500116"/>
            <a:ext cx="4584839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Real-time AI moderation of user stories, with human approval.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8"/>
          <p:cNvSpPr/>
          <p:nvPr/>
        </p:nvSpPr>
        <p:spPr>
          <a:xfrm>
            <a:off x="6527750" y="2964359"/>
            <a:ext cx="5232425" cy="2589163"/>
          </a:xfrm>
          <a:prstGeom prst="roundRect">
            <a:avLst>
              <a:gd fmla="val 5886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8"/>
          <p:cNvSpPr/>
          <p:nvPr/>
        </p:nvSpPr>
        <p:spPr>
          <a:xfrm>
            <a:off x="6918275" y="3354884"/>
            <a:ext cx="489651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C0E4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2BC0E4"/>
                </a:solidFill>
                <a:latin typeface="Arial"/>
                <a:ea typeface="Arial"/>
                <a:cs typeface="Arial"/>
                <a:sym typeface="Arial"/>
              </a:rPr>
              <a:t>240×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8"/>
          <p:cNvSpPr/>
          <p:nvPr/>
        </p:nvSpPr>
        <p:spPr>
          <a:xfrm>
            <a:off x="6918275" y="4078784"/>
            <a:ext cx="4896512" cy="3260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Southwark Council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8"/>
          <p:cNvSpPr/>
          <p:nvPr/>
        </p:nvSpPr>
        <p:spPr>
          <a:xfrm>
            <a:off x="6918275" y="4500116"/>
            <a:ext cx="4584916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2,000 print PDFs → accessible web content, far faster.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8"/>
          <p:cNvSpPr/>
          <p:nvPr/>
        </p:nvSpPr>
        <p:spPr>
          <a:xfrm>
            <a:off x="12026875" y="2964359"/>
            <a:ext cx="5232350" cy="2589163"/>
          </a:xfrm>
          <a:prstGeom prst="roundRect">
            <a:avLst>
              <a:gd fmla="val 5886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8"/>
          <p:cNvSpPr/>
          <p:nvPr/>
        </p:nvSpPr>
        <p:spPr>
          <a:xfrm>
            <a:off x="12417400" y="3354884"/>
            <a:ext cx="489643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BDC1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1FBDC1"/>
                </a:solidFill>
                <a:latin typeface="Arial"/>
                <a:ea typeface="Arial"/>
                <a:cs typeface="Arial"/>
                <a:sym typeface="Arial"/>
              </a:rPr>
              <a:t>Weeks→min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8"/>
          <p:cNvSpPr/>
          <p:nvPr/>
        </p:nvSpPr>
        <p:spPr>
          <a:xfrm>
            <a:off x="12417400" y="4078784"/>
            <a:ext cx="4896430" cy="3260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DB Schenker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8"/>
          <p:cNvSpPr/>
          <p:nvPr/>
        </p:nvSpPr>
        <p:spPr>
          <a:xfrm>
            <a:off x="12417400" y="4500116"/>
            <a:ext cx="4584839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Email triage &amp; reporting, collapsed to minutes.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8"/>
          <p:cNvSpPr/>
          <p:nvPr/>
        </p:nvSpPr>
        <p:spPr>
          <a:xfrm>
            <a:off x="1028700" y="5820221"/>
            <a:ext cx="5232350" cy="2589163"/>
          </a:xfrm>
          <a:prstGeom prst="roundRect">
            <a:avLst>
              <a:gd fmla="val 5886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8"/>
          <p:cNvSpPr/>
          <p:nvPr/>
        </p:nvSpPr>
        <p:spPr>
          <a:xfrm>
            <a:off x="1419225" y="6210746"/>
            <a:ext cx="489643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C74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3C74"/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8"/>
          <p:cNvSpPr/>
          <p:nvPr/>
        </p:nvSpPr>
        <p:spPr>
          <a:xfrm>
            <a:off x="1419225" y="6934646"/>
            <a:ext cx="4896430" cy="3260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ESP / JourneyCall rail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8"/>
          <p:cNvSpPr/>
          <p:nvPr/>
        </p:nvSpPr>
        <p:spPr>
          <a:xfrm>
            <a:off x="1419225" y="7355979"/>
            <a:ext cx="4584839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rgbClr val="6B6B6B"/>
                </a:solidFill>
              </a:rPr>
              <a:t>Automation, 80% faster processing, +25% CSAT.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8"/>
          <p:cNvSpPr/>
          <p:nvPr/>
        </p:nvSpPr>
        <p:spPr>
          <a:xfrm>
            <a:off x="6527750" y="5820221"/>
            <a:ext cx="5232425" cy="2589163"/>
          </a:xfrm>
          <a:prstGeom prst="roundRect">
            <a:avLst>
              <a:gd fmla="val 5886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8"/>
          <p:cNvSpPr/>
          <p:nvPr/>
        </p:nvSpPr>
        <p:spPr>
          <a:xfrm>
            <a:off x="6918275" y="6210746"/>
            <a:ext cx="489651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6FE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1E6FE0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8"/>
          <p:cNvSpPr/>
          <p:nvPr/>
        </p:nvSpPr>
        <p:spPr>
          <a:xfrm>
            <a:off x="6918275" y="6934646"/>
            <a:ext cx="4896512" cy="3260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Pidpa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8"/>
          <p:cNvSpPr/>
          <p:nvPr/>
        </p:nvSpPr>
        <p:spPr>
          <a:xfrm>
            <a:off x="6918275" y="7355979"/>
            <a:ext cx="4584916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Water utility: AI search and smarter service.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12026875" y="5820221"/>
            <a:ext cx="5232350" cy="2589163"/>
          </a:xfrm>
          <a:prstGeom prst="roundRect">
            <a:avLst>
              <a:gd fmla="val 5886" name="adj"/>
            </a:avLst>
          </a:prstGeom>
          <a:solidFill>
            <a:srgbClr val="FD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8"/>
          <p:cNvSpPr/>
          <p:nvPr/>
        </p:nvSpPr>
        <p:spPr>
          <a:xfrm>
            <a:off x="12417400" y="6738417"/>
            <a:ext cx="4896430" cy="3260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B00E49"/>
                </a:solidFill>
                <a:latin typeface="Arial"/>
                <a:ea typeface="Arial"/>
                <a:cs typeface="Arial"/>
                <a:sym typeface="Arial"/>
              </a:rPr>
              <a:t>Human-in-the-loop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8"/>
          <p:cNvSpPr/>
          <p:nvPr/>
        </p:nvSpPr>
        <p:spPr>
          <a:xfrm>
            <a:off x="12417400" y="7159749"/>
            <a:ext cx="4896430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00E49"/>
                </a:solidFill>
                <a:latin typeface="Arial"/>
                <a:ea typeface="Arial"/>
                <a:cs typeface="Arial"/>
                <a:sym typeface="Arial"/>
              </a:rPr>
              <a:t>Every story keeps people in control.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8" name="Google Shape;57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9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DIRECTION OF TRAVEL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9"/>
          <p:cNvSpPr/>
          <p:nvPr/>
        </p:nvSpPr>
        <p:spPr>
          <a:xfrm>
            <a:off x="1028700" y="1700213"/>
            <a:ext cx="17853660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The road to 2.0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9"/>
          <p:cNvSpPr/>
          <p:nvPr/>
        </p:nvSpPr>
        <p:spPr>
          <a:xfrm>
            <a:off x="2327077" y="4357985"/>
            <a:ext cx="13633847" cy="38100"/>
          </a:xfrm>
          <a:prstGeom prst="rect">
            <a:avLst/>
          </a:prstGeom>
          <a:gradFill>
            <a:gsLst>
              <a:gs pos="0">
                <a:srgbClr val="2BC0E4"/>
              </a:gs>
              <a:gs pos="100000">
                <a:srgbClr val="D81159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9"/>
          <p:cNvSpPr/>
          <p:nvPr/>
        </p:nvSpPr>
        <p:spPr>
          <a:xfrm>
            <a:off x="3489275" y="4177010"/>
            <a:ext cx="361950" cy="361950"/>
          </a:xfrm>
          <a:prstGeom prst="ellipse">
            <a:avLst/>
          </a:prstGeom>
          <a:solidFill>
            <a:srgbClr val="00B6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9"/>
          <p:cNvSpPr/>
          <p:nvPr/>
        </p:nvSpPr>
        <p:spPr>
          <a:xfrm>
            <a:off x="764541" y="4786610"/>
            <a:ext cx="581149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202020"/>
                </a:solidFill>
                <a:latin typeface="Courier New"/>
                <a:ea typeface="Courier New"/>
                <a:cs typeface="Courier New"/>
                <a:sym typeface="Courier New"/>
              </a:rPr>
              <a:t>1.4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9"/>
          <p:cNvSpPr/>
          <p:nvPr/>
        </p:nvSpPr>
        <p:spPr>
          <a:xfrm>
            <a:off x="8962951" y="4177010"/>
            <a:ext cx="361950" cy="361950"/>
          </a:xfrm>
          <a:prstGeom prst="ellipse">
            <a:avLst/>
          </a:prstGeom>
          <a:solidFill>
            <a:srgbClr val="B4B4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9"/>
          <p:cNvSpPr/>
          <p:nvPr/>
        </p:nvSpPr>
        <p:spPr>
          <a:xfrm>
            <a:off x="6238216" y="4786610"/>
            <a:ext cx="581149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202020"/>
                </a:solidFill>
                <a:latin typeface="Courier New"/>
                <a:ea typeface="Courier New"/>
                <a:cs typeface="Courier New"/>
                <a:sym typeface="Courier New"/>
              </a:rPr>
              <a:t>1.5.x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9"/>
          <p:cNvSpPr/>
          <p:nvPr/>
        </p:nvSpPr>
        <p:spPr>
          <a:xfrm>
            <a:off x="14436700" y="4177010"/>
            <a:ext cx="361950" cy="361950"/>
          </a:xfrm>
          <a:prstGeom prst="ellipse">
            <a:avLst/>
          </a:prstGeom>
          <a:solidFill>
            <a:srgbClr val="D811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9"/>
          <p:cNvSpPr/>
          <p:nvPr/>
        </p:nvSpPr>
        <p:spPr>
          <a:xfrm>
            <a:off x="11711888" y="4786610"/>
            <a:ext cx="58115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E49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B00E49"/>
                </a:solidFill>
                <a:latin typeface="Courier New"/>
                <a:ea typeface="Courier New"/>
                <a:cs typeface="Courier New"/>
                <a:sym typeface="Courier New"/>
              </a:rPr>
              <a:t>2.0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9"/>
          <p:cNvSpPr/>
          <p:nvPr/>
        </p:nvSpPr>
        <p:spPr>
          <a:xfrm>
            <a:off x="1028700" y="5662910"/>
            <a:ext cx="5219700" cy="1533823"/>
          </a:xfrm>
          <a:prstGeom prst="roundRect">
            <a:avLst>
              <a:gd fmla="val 9936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9"/>
          <p:cNvSpPr/>
          <p:nvPr/>
        </p:nvSpPr>
        <p:spPr>
          <a:xfrm>
            <a:off x="1419225" y="6053435"/>
            <a:ext cx="4882515" cy="3260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Agents in Core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9"/>
          <p:cNvSpPr/>
          <p:nvPr/>
        </p:nvSpPr>
        <p:spPr>
          <a:xfrm>
            <a:off x="1419225" y="6474768"/>
            <a:ext cx="4882515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AI Agents move into AI Core.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9"/>
          <p:cNvSpPr/>
          <p:nvPr/>
        </p:nvSpPr>
        <p:spPr>
          <a:xfrm>
            <a:off x="6534150" y="5662910"/>
            <a:ext cx="5219700" cy="1533823"/>
          </a:xfrm>
          <a:prstGeom prst="roundRect">
            <a:avLst>
              <a:gd fmla="val 9936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9"/>
          <p:cNvSpPr/>
          <p:nvPr/>
        </p:nvSpPr>
        <p:spPr>
          <a:xfrm>
            <a:off x="6924675" y="6053435"/>
            <a:ext cx="4882515" cy="3260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Tool API required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9"/>
          <p:cNvSpPr/>
          <p:nvPr/>
        </p:nvSpPr>
        <p:spPr>
          <a:xfrm>
            <a:off x="6924675" y="6474768"/>
            <a:ext cx="4882515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The standard way to build tools.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9"/>
          <p:cNvSpPr/>
          <p:nvPr/>
        </p:nvSpPr>
        <p:spPr>
          <a:xfrm>
            <a:off x="12039600" y="5662910"/>
            <a:ext cx="5219700" cy="1533823"/>
          </a:xfrm>
          <a:prstGeom prst="roundRect">
            <a:avLst>
              <a:gd fmla="val 9936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9"/>
          <p:cNvSpPr/>
          <p:nvPr/>
        </p:nvSpPr>
        <p:spPr>
          <a:xfrm>
            <a:off x="12430125" y="6053435"/>
            <a:ext cx="4882515" cy="3260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Chatbot → Agents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9"/>
          <p:cNvSpPr/>
          <p:nvPr/>
        </p:nvSpPr>
        <p:spPr>
          <a:xfrm>
            <a:off x="12430125" y="6474768"/>
            <a:ext cx="4882515" cy="369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Direct; the Assistants wrapper retires.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2" name="Google Shape;60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0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THE CLIENT VALUE GRID · FOR THE BUSINESS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0"/>
          <p:cNvSpPr/>
          <p:nvPr/>
        </p:nvSpPr>
        <p:spPr>
          <a:xfrm>
            <a:off x="1028700" y="1700213"/>
            <a:ext cx="17853660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What agencies can tell clients today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0"/>
          <p:cNvSpPr/>
          <p:nvPr/>
        </p:nvSpPr>
        <p:spPr>
          <a:xfrm>
            <a:off x="1028700" y="3930328"/>
            <a:ext cx="5232350" cy="1623194"/>
          </a:xfrm>
          <a:prstGeom prst="roundRect">
            <a:avLst>
              <a:gd fmla="val 9389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0"/>
          <p:cNvSpPr/>
          <p:nvPr/>
        </p:nvSpPr>
        <p:spPr>
          <a:xfrm>
            <a:off x="1419225" y="4320853"/>
            <a:ext cx="4896430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Governance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0"/>
          <p:cNvSpPr/>
          <p:nvPr/>
        </p:nvSpPr>
        <p:spPr>
          <a:xfrm>
            <a:off x="1419225" y="4803949"/>
            <a:ext cx="4896430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Guardrails, built into the platform.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0"/>
          <p:cNvSpPr/>
          <p:nvPr/>
        </p:nvSpPr>
        <p:spPr>
          <a:xfrm>
            <a:off x="6527750" y="3930328"/>
            <a:ext cx="5232425" cy="1623194"/>
          </a:xfrm>
          <a:prstGeom prst="roundRect">
            <a:avLst>
              <a:gd fmla="val 9389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0"/>
          <p:cNvSpPr/>
          <p:nvPr/>
        </p:nvSpPr>
        <p:spPr>
          <a:xfrm>
            <a:off x="6918275" y="4320853"/>
            <a:ext cx="4896512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Productivity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0"/>
          <p:cNvSpPr/>
          <p:nvPr/>
        </p:nvSpPr>
        <p:spPr>
          <a:xfrm>
            <a:off x="6918275" y="4803949"/>
            <a:ext cx="4896512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Field actions + an in-editor chatbot.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0"/>
          <p:cNvSpPr/>
          <p:nvPr/>
        </p:nvSpPr>
        <p:spPr>
          <a:xfrm>
            <a:off x="12026875" y="3930328"/>
            <a:ext cx="5232350" cy="1623194"/>
          </a:xfrm>
          <a:prstGeom prst="roundRect">
            <a:avLst>
              <a:gd fmla="val 9389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0"/>
          <p:cNvSpPr/>
          <p:nvPr/>
        </p:nvSpPr>
        <p:spPr>
          <a:xfrm>
            <a:off x="12417400" y="4320853"/>
            <a:ext cx="4896430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0"/>
          <p:cNvSpPr/>
          <p:nvPr/>
        </p:nvSpPr>
        <p:spPr>
          <a:xfrm>
            <a:off x="12417400" y="4803949"/>
            <a:ext cx="4896430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AI across thousands of items via VBO.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0"/>
          <p:cNvSpPr/>
          <p:nvPr/>
        </p:nvSpPr>
        <p:spPr>
          <a:xfrm>
            <a:off x="1028700" y="5820221"/>
            <a:ext cx="5232350" cy="1623194"/>
          </a:xfrm>
          <a:prstGeom prst="roundRect">
            <a:avLst>
              <a:gd fmla="val 9389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0"/>
          <p:cNvSpPr/>
          <p:nvPr/>
        </p:nvSpPr>
        <p:spPr>
          <a:xfrm>
            <a:off x="1419225" y="6210746"/>
            <a:ext cx="4896430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Resilience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0"/>
          <p:cNvSpPr/>
          <p:nvPr/>
        </p:nvSpPr>
        <p:spPr>
          <a:xfrm>
            <a:off x="1419225" y="6693843"/>
            <a:ext cx="4896430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Failover and redundancy ahead.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0"/>
          <p:cNvSpPr/>
          <p:nvPr/>
        </p:nvSpPr>
        <p:spPr>
          <a:xfrm>
            <a:off x="6527750" y="5820221"/>
            <a:ext cx="5232425" cy="1623194"/>
          </a:xfrm>
          <a:prstGeom prst="roundRect">
            <a:avLst>
              <a:gd fmla="val 9389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0"/>
          <p:cNvSpPr/>
          <p:nvPr/>
        </p:nvSpPr>
        <p:spPr>
          <a:xfrm>
            <a:off x="6918275" y="6210746"/>
            <a:ext cx="4896512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Cost control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0"/>
          <p:cNvSpPr/>
          <p:nvPr/>
        </p:nvSpPr>
        <p:spPr>
          <a:xfrm>
            <a:off x="6918275" y="6693843"/>
            <a:ext cx="4896512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Input limits + full observability.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0"/>
          <p:cNvSpPr/>
          <p:nvPr/>
        </p:nvSpPr>
        <p:spPr>
          <a:xfrm>
            <a:off x="12026875" y="5820221"/>
            <a:ext cx="5232350" cy="1623194"/>
          </a:xfrm>
          <a:prstGeom prst="roundRect">
            <a:avLst>
              <a:gd fmla="val 9389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0"/>
          <p:cNvSpPr/>
          <p:nvPr/>
        </p:nvSpPr>
        <p:spPr>
          <a:xfrm>
            <a:off x="12417400" y="6210746"/>
            <a:ext cx="4896430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No lock-in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0"/>
          <p:cNvSpPr/>
          <p:nvPr/>
        </p:nvSpPr>
        <p:spPr>
          <a:xfrm>
            <a:off x="12417400" y="6693843"/>
            <a:ext cx="4896430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Open source, 48+ providers.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8" name="Google Shape;62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1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FOR DEVELOPERS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1"/>
          <p:cNvSpPr/>
          <p:nvPr/>
        </p:nvSpPr>
        <p:spPr>
          <a:xfrm>
            <a:off x="1028700" y="1700225"/>
            <a:ext cx="162864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Where to start</a:t>
            </a:r>
            <a:r>
              <a:rPr b="1" lang="en-US" sz="6000">
                <a:solidFill>
                  <a:srgbClr val="202020"/>
                </a:solidFill>
              </a:rPr>
              <a:t>:</a:t>
            </a: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 small wins first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1"/>
          <p:cNvSpPr/>
          <p:nvPr/>
        </p:nvSpPr>
        <p:spPr>
          <a:xfrm>
            <a:off x="1028700" y="3619574"/>
            <a:ext cx="5245075" cy="1935063"/>
          </a:xfrm>
          <a:prstGeom prst="roundRect">
            <a:avLst>
              <a:gd fmla="val 7876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1"/>
          <p:cNvSpPr/>
          <p:nvPr/>
        </p:nvSpPr>
        <p:spPr>
          <a:xfrm>
            <a:off x="1419225" y="4010099"/>
            <a:ext cx="4910428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3C74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E63C7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1"/>
          <p:cNvSpPr/>
          <p:nvPr/>
        </p:nvSpPr>
        <p:spPr>
          <a:xfrm>
            <a:off x="1419225" y="4753049"/>
            <a:ext cx="4910428" cy="315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Install Core + a provider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1"/>
          <p:cNvSpPr/>
          <p:nvPr/>
        </p:nvSpPr>
        <p:spPr>
          <a:xfrm>
            <a:off x="6521425" y="3619574"/>
            <a:ext cx="5245075" cy="1935063"/>
          </a:xfrm>
          <a:prstGeom prst="roundRect">
            <a:avLst>
              <a:gd fmla="val 7876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1"/>
          <p:cNvSpPr/>
          <p:nvPr/>
        </p:nvSpPr>
        <p:spPr>
          <a:xfrm>
            <a:off x="6911950" y="4010099"/>
            <a:ext cx="4910428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3C74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E63C7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1"/>
          <p:cNvSpPr/>
          <p:nvPr/>
        </p:nvSpPr>
        <p:spPr>
          <a:xfrm>
            <a:off x="6911950" y="4753049"/>
            <a:ext cx="4910428" cy="315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Enable AI Dashboard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1"/>
          <p:cNvSpPr/>
          <p:nvPr/>
        </p:nvSpPr>
        <p:spPr>
          <a:xfrm>
            <a:off x="12014150" y="3619574"/>
            <a:ext cx="5245150" cy="1935063"/>
          </a:xfrm>
          <a:prstGeom prst="roundRect">
            <a:avLst>
              <a:gd fmla="val 7876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1"/>
          <p:cNvSpPr/>
          <p:nvPr/>
        </p:nvSpPr>
        <p:spPr>
          <a:xfrm>
            <a:off x="12404675" y="4010099"/>
            <a:ext cx="491051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3C74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E63C7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1"/>
          <p:cNvSpPr/>
          <p:nvPr/>
        </p:nvSpPr>
        <p:spPr>
          <a:xfrm>
            <a:off x="12404675" y="4753049"/>
            <a:ext cx="4910510" cy="315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Try a Field Widget Action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1"/>
          <p:cNvSpPr/>
          <p:nvPr/>
        </p:nvSpPr>
        <p:spPr>
          <a:xfrm>
            <a:off x="1028700" y="5802288"/>
            <a:ext cx="5245075" cy="1951806"/>
          </a:xfrm>
          <a:prstGeom prst="roundRect">
            <a:avLst>
              <a:gd fmla="val 7808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1"/>
          <p:cNvSpPr/>
          <p:nvPr/>
        </p:nvSpPr>
        <p:spPr>
          <a:xfrm>
            <a:off x="1419225" y="6192813"/>
            <a:ext cx="4910428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3C74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E63C7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1"/>
          <p:cNvSpPr/>
          <p:nvPr/>
        </p:nvSpPr>
        <p:spPr>
          <a:xfrm>
            <a:off x="1419225" y="6935763"/>
            <a:ext cx="4910428" cy="315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Turn on Guardrails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1"/>
          <p:cNvSpPr/>
          <p:nvPr/>
        </p:nvSpPr>
        <p:spPr>
          <a:xfrm>
            <a:off x="6521425" y="5802288"/>
            <a:ext cx="5245075" cy="1951806"/>
          </a:xfrm>
          <a:prstGeom prst="roundRect">
            <a:avLst>
              <a:gd fmla="val 7808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1"/>
          <p:cNvSpPr/>
          <p:nvPr/>
        </p:nvSpPr>
        <p:spPr>
          <a:xfrm>
            <a:off x="6911950" y="6192813"/>
            <a:ext cx="4910428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3C74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E63C7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1"/>
          <p:cNvSpPr/>
          <p:nvPr/>
        </p:nvSpPr>
        <p:spPr>
          <a:xfrm>
            <a:off x="6911950" y="6935763"/>
            <a:ext cx="4910428" cy="315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Wire Observability / OTel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1"/>
          <p:cNvSpPr/>
          <p:nvPr/>
        </p:nvSpPr>
        <p:spPr>
          <a:xfrm>
            <a:off x="12014150" y="5802288"/>
            <a:ext cx="5245150" cy="1951806"/>
          </a:xfrm>
          <a:prstGeom prst="roundRect">
            <a:avLst>
              <a:gd fmla="val 7808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1"/>
          <p:cNvSpPr/>
          <p:nvPr/>
        </p:nvSpPr>
        <p:spPr>
          <a:xfrm>
            <a:off x="12404675" y="6192813"/>
            <a:ext cx="491051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3C74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E63C74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1"/>
          <p:cNvSpPr/>
          <p:nvPr/>
        </p:nvSpPr>
        <p:spPr>
          <a:xfrm>
            <a:off x="12404675" y="6935763"/>
            <a:ext cx="4910510" cy="3325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Scaffold with </a:t>
            </a:r>
            <a:r>
              <a:rPr b="1" i="0" lang="en-US" sz="1800" u="none" cap="none" strike="noStrike">
                <a:solidFill>
                  <a:srgbClr val="202020"/>
                </a:solidFill>
                <a:latin typeface="Courier New"/>
                <a:ea typeface="Courier New"/>
                <a:cs typeface="Courier New"/>
                <a:sym typeface="Courier New"/>
              </a:rPr>
              <a:t>drush generate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4" name="Google Shape;65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2"/>
          <p:cNvSpPr/>
          <p:nvPr/>
        </p:nvSpPr>
        <p:spPr>
          <a:xfrm>
            <a:off x="1028700" y="1028700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STAY CURRENT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2"/>
          <p:cNvSpPr/>
          <p:nvPr/>
        </p:nvSpPr>
        <p:spPr>
          <a:xfrm>
            <a:off x="1028700" y="1700213"/>
            <a:ext cx="17853660" cy="81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Learn more &amp; keep up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2"/>
          <p:cNvSpPr/>
          <p:nvPr/>
        </p:nvSpPr>
        <p:spPr>
          <a:xfrm>
            <a:off x="1028700" y="3473128"/>
            <a:ext cx="5232350" cy="1623194"/>
          </a:xfrm>
          <a:prstGeom prst="roundRect">
            <a:avLst>
              <a:gd fmla="val 938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32"/>
          <p:cNvSpPr/>
          <p:nvPr/>
        </p:nvSpPr>
        <p:spPr>
          <a:xfrm>
            <a:off x="1419225" y="3863653"/>
            <a:ext cx="4896430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Project page &amp; docs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2"/>
          <p:cNvSpPr/>
          <p:nvPr/>
        </p:nvSpPr>
        <p:spPr>
          <a:xfrm>
            <a:off x="1419225" y="4346749"/>
            <a:ext cx="4896430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81159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D81159"/>
                </a:solidFill>
                <a:latin typeface="Courier New"/>
                <a:ea typeface="Courier New"/>
                <a:cs typeface="Courier New"/>
                <a:sym typeface="Courier New"/>
              </a:rPr>
              <a:t>drupal.org/project/ai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2"/>
          <p:cNvSpPr/>
          <p:nvPr/>
        </p:nvSpPr>
        <p:spPr>
          <a:xfrm>
            <a:off x="6527750" y="3473128"/>
            <a:ext cx="5232425" cy="1623194"/>
          </a:xfrm>
          <a:prstGeom prst="roundRect">
            <a:avLst>
              <a:gd fmla="val 938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2"/>
          <p:cNvSpPr/>
          <p:nvPr/>
        </p:nvSpPr>
        <p:spPr>
          <a:xfrm>
            <a:off x="6918275" y="3863653"/>
            <a:ext cx="4896512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Drupal AI TV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2"/>
          <p:cNvSpPr/>
          <p:nvPr/>
        </p:nvSpPr>
        <p:spPr>
          <a:xfrm>
            <a:off x="6918275" y="4346749"/>
            <a:ext cx="4896512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Walkthroughs and deep-dives.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2"/>
          <p:cNvSpPr/>
          <p:nvPr/>
        </p:nvSpPr>
        <p:spPr>
          <a:xfrm>
            <a:off x="12026875" y="3473128"/>
            <a:ext cx="5232350" cy="1623194"/>
          </a:xfrm>
          <a:prstGeom prst="roundRect">
            <a:avLst>
              <a:gd fmla="val 938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2"/>
          <p:cNvSpPr/>
          <p:nvPr/>
        </p:nvSpPr>
        <p:spPr>
          <a:xfrm>
            <a:off x="12417400" y="3863653"/>
            <a:ext cx="4896430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AI Learners Club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2"/>
          <p:cNvSpPr/>
          <p:nvPr/>
        </p:nvSpPr>
        <p:spPr>
          <a:xfrm>
            <a:off x="12417400" y="4346749"/>
            <a:ext cx="4896430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Learn alongside the community.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2"/>
          <p:cNvSpPr/>
          <p:nvPr/>
        </p:nvSpPr>
        <p:spPr>
          <a:xfrm>
            <a:off x="1028700" y="5363021"/>
            <a:ext cx="5232350" cy="1623194"/>
          </a:xfrm>
          <a:prstGeom prst="roundRect">
            <a:avLst>
              <a:gd fmla="val 938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32"/>
          <p:cNvSpPr/>
          <p:nvPr/>
        </p:nvSpPr>
        <p:spPr>
          <a:xfrm>
            <a:off x="1419225" y="5753546"/>
            <a:ext cx="4896430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Drupal Slack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2"/>
          <p:cNvSpPr/>
          <p:nvPr/>
        </p:nvSpPr>
        <p:spPr>
          <a:xfrm>
            <a:off x="1419225" y="6236643"/>
            <a:ext cx="4896430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1950" u="none" cap="none" strike="noStrike">
                <a:solidFill>
                  <a:srgbClr val="D81159"/>
                </a:solidFill>
                <a:latin typeface="Courier New"/>
                <a:ea typeface="Courier New"/>
                <a:cs typeface="Courier New"/>
                <a:sym typeface="Courier New"/>
              </a:rPr>
              <a:t>#ai</a:t>
            </a:r>
            <a:r>
              <a:rPr b="0" i="0" lang="en-US" sz="1950" u="none" cap="none" strike="noStrike">
                <a:solidFill>
                  <a:srgbClr val="D8115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channel.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2"/>
          <p:cNvSpPr/>
          <p:nvPr/>
        </p:nvSpPr>
        <p:spPr>
          <a:xfrm>
            <a:off x="6527750" y="5363021"/>
            <a:ext cx="5232425" cy="1623194"/>
          </a:xfrm>
          <a:prstGeom prst="roundRect">
            <a:avLst>
              <a:gd fmla="val 938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2"/>
          <p:cNvSpPr/>
          <p:nvPr/>
        </p:nvSpPr>
        <p:spPr>
          <a:xfrm>
            <a:off x="6918275" y="5753546"/>
            <a:ext cx="4896512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Release blogs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2"/>
          <p:cNvSpPr/>
          <p:nvPr/>
        </p:nvSpPr>
        <p:spPr>
          <a:xfrm>
            <a:off x="6918275" y="6236643"/>
            <a:ext cx="4896512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The most reliable source of truth.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2"/>
          <p:cNvSpPr/>
          <p:nvPr/>
        </p:nvSpPr>
        <p:spPr>
          <a:xfrm>
            <a:off x="12026875" y="5363021"/>
            <a:ext cx="5232350" cy="1623194"/>
          </a:xfrm>
          <a:prstGeom prst="roundRect">
            <a:avLst>
              <a:gd fmla="val 938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32"/>
          <p:cNvSpPr/>
          <p:nvPr/>
        </p:nvSpPr>
        <p:spPr>
          <a:xfrm>
            <a:off x="12417400" y="5753546"/>
            <a:ext cx="4896430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Demo videos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2"/>
          <p:cNvSpPr/>
          <p:nvPr/>
        </p:nvSpPr>
        <p:spPr>
          <a:xfrm>
            <a:off x="12417400" y="6236643"/>
            <a:ext cx="4896430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The 1.3.0 &amp; 1.4.0 walkthroughs.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0" name="Google Shape;6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699" y="9227173"/>
            <a:ext cx="1535000" cy="7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85" name="Google Shape;68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33"/>
          <p:cNvSpPr/>
          <p:nvPr/>
        </p:nvSpPr>
        <p:spPr>
          <a:xfrm>
            <a:off x="1028700" y="2285554"/>
            <a:ext cx="178536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C0E4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C0E4"/>
                </a:solidFill>
                <a:latin typeface="Arial"/>
                <a:ea typeface="Arial"/>
                <a:cs typeface="Arial"/>
                <a:sym typeface="Arial"/>
              </a:rPr>
              <a:t>SIX MONTHS OF MOMENTUM · JAN – JUL 2026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3"/>
          <p:cNvSpPr/>
          <p:nvPr/>
        </p:nvSpPr>
        <p:spPr>
          <a:xfrm>
            <a:off x="1028700" y="3052316"/>
            <a:ext cx="1785366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0"/>
              <a:buFont typeface="Arial"/>
              <a:buNone/>
            </a:pPr>
            <a:r>
              <a:rPr b="1" i="0" lang="en-US" sz="1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</a:t>
            </a:r>
            <a:r>
              <a:rPr b="1" i="0" lang="en-US" sz="16800" u="none" cap="none" strike="noStrike">
                <a:solidFill>
                  <a:srgbClr val="D81159"/>
                </a:solidFill>
                <a:latin typeface="Arial"/>
                <a:ea typeface="Arial"/>
                <a:cs typeface="Arial"/>
                <a:sym typeface="Arial"/>
              </a:rPr>
              <a:t> you</a:t>
            </a:r>
            <a:endParaRPr b="0" i="0" sz="1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3"/>
          <p:cNvSpPr/>
          <p:nvPr/>
        </p:nvSpPr>
        <p:spPr>
          <a:xfrm>
            <a:off x="1028700" y="6252716"/>
            <a:ext cx="10791825" cy="142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Questions? Find us in #ai on Drupal Slack</a:t>
            </a:r>
            <a:endParaRPr sz="39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go ship something.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9" name="Google Shape;68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699" y="9227175"/>
            <a:ext cx="1535000" cy="707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